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10.sv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16C9B47-DADB-4421-8B6D-3E6A6B9441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C7F778A4-2268-46AA-BEFE-0C342FC75A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6A2471-010B-443D-877D-AFD9E6444DF5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C34D7-FBD9-41FD-B17D-F302D143EC3F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680B6-C26F-4F92-86C4-3E2D03CD7F2B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A8372-400B-4CEE-9B41-9CF29FB67A0D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F205E-20F3-4781-878E-46208B211A93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34827B-DC63-43EC-9C72-4D5559490C49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17F15-5033-4E82-85AF-4418AB17F1D3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B5D712-4571-4C83-AA6C-2D65BD5B668B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C9A42-364C-4467-A112-D02BEB945E8B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0A26D8-7E79-4064-B30F-BEF2557E2872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44C05A-F321-4FA8-A981-E5E879A65261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1A78DD-D6AD-411B-9DE7-10DB37163BC6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2C8D64-53CE-4D3C-911E-D0DCC9B4AE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049467-1827-43ED-8ED3-C999CAF26712}"/>
              </a:ext>
            </a:extLst>
          </p:cNvPr>
          <p:cNvSpPr>
            <a:spLocks noGrp="1"/>
          </p:cNvSpPr>
          <p:nvPr/>
        </p:nvSpPr>
        <p:spPr>
          <a:xfrm>
            <a:off x="742950" y="723900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7C1111-370C-4B6C-9C4E-91F50C8C85A4}"/>
              </a:ext>
            </a:extLst>
          </p:cNvPr>
          <p:cNvSpPr>
            <a:spLocks noGrp="1"/>
          </p:cNvSpPr>
          <p:nvPr/>
        </p:nvSpPr>
        <p:spPr>
          <a:xfrm>
            <a:off x="742950" y="90487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DATA STRUCTURES MINI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20B42-6612-47F0-ACFA-6DD0FDF638D1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62865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Student</a:t>
            </a:r>
          </a:p>
          <a:p>
            <a:pPr algn="l">
              <a:defRPr sz="4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Management</a:t>
            </a:r>
          </a:p>
          <a:p>
            <a:pPr algn="l">
              <a:defRPr sz="4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C6A8B8-BF05-434C-816B-F004AA77A97B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using Linked List in 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87059B-8DB9-432E-A6B6-D9AE82378885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Mini Project for Data Structures using C Programming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EF580-8595-4F88-B8E6-FEC3ED0C9000}"/>
              </a:ext>
            </a:extLst>
          </p:cNvPr>
          <p:cNvSpPr>
            <a:spLocks noGrp="1"/>
          </p:cNvSpPr>
          <p:nvPr/>
        </p:nvSpPr>
        <p:spPr>
          <a:xfrm>
            <a:off x="7239000" y="1066800"/>
            <a:ext cx="3829050" cy="3886200"/>
          </a:xfrm>
          <a:prstGeom prst="rect">
            <a:avLst/>
          </a:prstGeom>
          <a:solidFill>
            <a:srgbClr val="07111F"/>
          </a:solidFill>
          <a:ln w="13335">
            <a:solidFill>
              <a:srgbClr val="164E63"/>
            </a:solidFill>
            <a:prstDash val="solid"/>
          </a:ln>
        </p:spPr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10500" y="1619250"/>
            <a:ext cx="552450" cy="552450"/>
          </a:xfrm>
          <a:prstGeom prst="rect">
            <a:avLst/>
          </a:prstGeom>
        </p:spPr>
      </p:pic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906000" y="1619250"/>
            <a:ext cx="552450" cy="5524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7163050-4540-4A2E-88B4-5887DDE2A780}"/>
              </a:ext>
            </a:extLst>
          </p:cNvPr>
          <p:cNvSpPr>
            <a:spLocks noGrp="1"/>
          </p:cNvSpPr>
          <p:nvPr/>
        </p:nvSpPr>
        <p:spPr>
          <a:xfrm>
            <a:off x="7696200" y="27622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HEAD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E8DD64-E252-4F43-A688-B18AAA85CA20}"/>
              </a:ext>
            </a:extLst>
          </p:cNvPr>
          <p:cNvSpPr>
            <a:spLocks noGrp="1"/>
          </p:cNvSpPr>
          <p:nvPr/>
        </p:nvSpPr>
        <p:spPr>
          <a:xfrm>
            <a:off x="7734300" y="3200400"/>
            <a:ext cx="723900" cy="495300"/>
          </a:xfrm>
          <a:prstGeom prst="rect">
            <a:avLst/>
          </a:prstGeom>
          <a:solidFill>
            <a:srgbClr val="0F172A"/>
          </a:solidFill>
          <a:ln w="13335">
            <a:solidFill>
              <a:srgbClr val="22D3E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C41299-C1DB-4C77-B449-0D8C933F440B}"/>
              </a:ext>
            </a:extLst>
          </p:cNvPr>
          <p:cNvSpPr>
            <a:spLocks noGrp="1"/>
          </p:cNvSpPr>
          <p:nvPr/>
        </p:nvSpPr>
        <p:spPr>
          <a:xfrm>
            <a:off x="7734300" y="33528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B83767-70DA-4E49-902C-C4DF425FFE57}"/>
              </a:ext>
            </a:extLst>
          </p:cNvPr>
          <p:cNvSpPr>
            <a:spLocks noGrp="1"/>
          </p:cNvSpPr>
          <p:nvPr/>
        </p:nvSpPr>
        <p:spPr>
          <a:xfrm>
            <a:off x="8515350" y="3438525"/>
            <a:ext cx="400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5C340A-5C8C-4B27-98CD-7DE2C2CEF431}"/>
              </a:ext>
            </a:extLst>
          </p:cNvPr>
          <p:cNvSpPr>
            <a:spLocks noGrp="1"/>
          </p:cNvSpPr>
          <p:nvPr/>
        </p:nvSpPr>
        <p:spPr>
          <a:xfrm>
            <a:off x="8734425" y="3200400"/>
            <a:ext cx="723900" cy="495300"/>
          </a:xfrm>
          <a:prstGeom prst="rect">
            <a:avLst/>
          </a:prstGeom>
          <a:solidFill>
            <a:srgbClr val="0F172A"/>
          </a:solidFill>
          <a:ln w="13335">
            <a:solidFill>
              <a:srgbClr val="FACC1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C5C294-59FC-42D5-8FE1-A7107BE3BCDD}"/>
              </a:ext>
            </a:extLst>
          </p:cNvPr>
          <p:cNvSpPr>
            <a:spLocks noGrp="1"/>
          </p:cNvSpPr>
          <p:nvPr/>
        </p:nvSpPr>
        <p:spPr>
          <a:xfrm>
            <a:off x="8734425" y="33528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AAEBA0-2972-40A5-A9AA-B817F35B1CFE}"/>
              </a:ext>
            </a:extLst>
          </p:cNvPr>
          <p:cNvSpPr>
            <a:spLocks noGrp="1"/>
          </p:cNvSpPr>
          <p:nvPr/>
        </p:nvSpPr>
        <p:spPr>
          <a:xfrm>
            <a:off x="9515475" y="3438525"/>
            <a:ext cx="400050" cy="19050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DE5BC0-8A63-41A5-823A-E19DE8F23CC7}"/>
              </a:ext>
            </a:extLst>
          </p:cNvPr>
          <p:cNvSpPr>
            <a:spLocks noGrp="1"/>
          </p:cNvSpPr>
          <p:nvPr/>
        </p:nvSpPr>
        <p:spPr>
          <a:xfrm>
            <a:off x="9734550" y="3200400"/>
            <a:ext cx="723900" cy="495300"/>
          </a:xfrm>
          <a:prstGeom prst="rect">
            <a:avLst/>
          </a:prstGeom>
          <a:solidFill>
            <a:srgbClr val="0F172A"/>
          </a:solidFill>
          <a:ln w="13335">
            <a:solidFill>
              <a:srgbClr val="22D3EE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610DD1-1316-4B99-A1AB-682820F25346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DF0525-2BD3-43E7-B01B-AF3843146A29}"/>
              </a:ext>
            </a:extLst>
          </p:cNvPr>
          <p:cNvSpPr>
            <a:spLocks noGrp="1"/>
          </p:cNvSpPr>
          <p:nvPr/>
        </p:nvSpPr>
        <p:spPr>
          <a:xfrm>
            <a:off x="10515600" y="33337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ED0630-7E38-4DED-85B9-A8E53DD3311A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Submitted by: Hitesh Kukreja, Akash Godale, Hiresh Jawanjal, Mukund Mundala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28CE21-4F9D-4A15-98B6-BED78C7BEE35}"/>
              </a:ext>
            </a:extLst>
          </p:cNvPr>
          <p:cNvSpPr>
            <a:spLocks noGrp="1"/>
          </p:cNvSpPr>
          <p:nvPr/>
        </p:nvSpPr>
        <p:spPr>
          <a:xfrm>
            <a:off x="742950" y="6048375"/>
            <a:ext cx="2000250" cy="285750"/>
          </a:xfrm>
          <a:prstGeom prst="rect">
            <a:avLst/>
          </a:prstGeom>
          <a:solidFill>
            <a:srgbClr val="0C1B2B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8AA41C-CD64-4E81-8DBD-DFB5CFE0D5BA}"/>
              </a:ext>
            </a:extLst>
          </p:cNvPr>
          <p:cNvSpPr>
            <a:spLocks noGrp="1"/>
          </p:cNvSpPr>
          <p:nvPr/>
        </p:nvSpPr>
        <p:spPr>
          <a:xfrm>
            <a:off x="857250" y="611505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Academic Year 2025-2026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8E3557-80B0-400F-B49D-453E3C4F0F10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D2A282-C384-43F6-AD5B-739D9C54B5D9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2C83AF-6FB0-4FC3-8E27-596C7DF5BBCC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657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B07FAFF-34FD-4A90-AC31-46700C062A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E28FF778-4B08-4EF9-AFE9-B8507EC7BE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EFB5D3-D1DF-431B-A322-336FCC3AA02B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B23DA-5AAC-45BA-8CA7-FEE1BAB8EE3F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26706-68D5-48CA-BD42-B5AE199BFA50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C4B1E-C513-4282-ADFE-041D67F185FB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BDA16-1AD9-4869-9B73-391771D169A0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15D66C-10F5-4E31-A2A3-0918D5711E0B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2E5CBB-D162-45D5-83D7-E6C2534E9F9C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14CE8-5C93-45D5-B750-43D2148E515A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3B7D3D-6B29-4103-A32E-F3E6FD7B7D39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9D3535-914C-46D7-A203-A5545AC6A4DC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5D104-387F-4E87-A4CA-3D1BA36AA7D0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31ECBB-D4D2-4F25-8B3C-00B81B40E1C9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4FA234-722D-4645-AD57-91D7BFD5F72F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84005030-B623-434C-B5A1-299BAA8EFF3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BF2061-04F4-4B97-8F3B-2694E6298154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A154335C-C0ED-4744-A18E-36D9D28EF7C8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BDB0A5-8C0F-40DB-8FC2-5B4F98124AF7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linked list makes student records dynamic instead of fixed-size.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B9DF26-88F5-43B5-9A7F-7A14B44AE606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project turns a common academic record system into a practical demonstration of C structures, pointers, malloc(), and traversal.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4D243A-64C9-459A-B66A-05CD4096AD2E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4000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148F8A-58FF-4AE6-A65C-62CCB5F17386}"/>
              </a:ext>
            </a:extLst>
          </p:cNvPr>
          <p:cNvSpPr>
            <a:spLocks noGrp="1"/>
          </p:cNvSpPr>
          <p:nvPr/>
        </p:nvSpPr>
        <p:spPr>
          <a:xfrm>
            <a:off x="819150" y="26670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EBBC05-C805-4A45-B8F4-16049224F4CD}"/>
              </a:ext>
            </a:extLst>
          </p:cNvPr>
          <p:cNvSpPr>
            <a:spLocks noGrp="1"/>
          </p:cNvSpPr>
          <p:nvPr/>
        </p:nvSpPr>
        <p:spPr>
          <a:xfrm>
            <a:off x="819150" y="3095625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Programming language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4E0F9F-D450-4D60-870C-B4400643F682}"/>
              </a:ext>
            </a:extLst>
          </p:cNvPr>
          <p:cNvSpPr>
            <a:spLocks noGrp="1"/>
          </p:cNvSpPr>
          <p:nvPr/>
        </p:nvSpPr>
        <p:spPr>
          <a:xfrm>
            <a:off x="3257550" y="2495550"/>
            <a:ext cx="4000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4B40DA-0D42-4FFC-9109-9D26421BD7F3}"/>
              </a:ext>
            </a:extLst>
          </p:cNvPr>
          <p:cNvSpPr>
            <a:spLocks noGrp="1"/>
          </p:cNvSpPr>
          <p:nvPr/>
        </p:nvSpPr>
        <p:spPr>
          <a:xfrm>
            <a:off x="3257550" y="26670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SLL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50B038-217B-40F1-85AB-790906886965}"/>
              </a:ext>
            </a:extLst>
          </p:cNvPr>
          <p:cNvSpPr>
            <a:spLocks noGrp="1"/>
          </p:cNvSpPr>
          <p:nvPr/>
        </p:nvSpPr>
        <p:spPr>
          <a:xfrm>
            <a:off x="3257550" y="3095625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Core data structure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057CF4-4BF9-4C44-AFC1-32F4CB1E4FEB}"/>
              </a:ext>
            </a:extLst>
          </p:cNvPr>
          <p:cNvSpPr>
            <a:spLocks noGrp="1"/>
          </p:cNvSpPr>
          <p:nvPr/>
        </p:nvSpPr>
        <p:spPr>
          <a:xfrm>
            <a:off x="5695950" y="2495550"/>
            <a:ext cx="4000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BA1546-CF27-4386-AE73-BF2B5E77370E}"/>
              </a:ext>
            </a:extLst>
          </p:cNvPr>
          <p:cNvSpPr>
            <a:spLocks noGrp="1"/>
          </p:cNvSpPr>
          <p:nvPr/>
        </p:nvSpPr>
        <p:spPr>
          <a:xfrm>
            <a:off x="5695950" y="26670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CRUD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0C903E-DD5E-401C-B256-864DA56260A1}"/>
              </a:ext>
            </a:extLst>
          </p:cNvPr>
          <p:cNvSpPr>
            <a:spLocks noGrp="1"/>
          </p:cNvSpPr>
          <p:nvPr/>
        </p:nvSpPr>
        <p:spPr>
          <a:xfrm>
            <a:off x="5695950" y="3095625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Main operations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35B552-4619-492F-8DA1-11AD1A43EC84}"/>
              </a:ext>
            </a:extLst>
          </p:cNvPr>
          <p:cNvSpPr>
            <a:spLocks noGrp="1"/>
          </p:cNvSpPr>
          <p:nvPr/>
        </p:nvSpPr>
        <p:spPr>
          <a:xfrm>
            <a:off x="8134350" y="2495550"/>
            <a:ext cx="4000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6912AB-933E-4EFA-A50F-4E79527DD7CD}"/>
              </a:ext>
            </a:extLst>
          </p:cNvPr>
          <p:cNvSpPr>
            <a:spLocks noGrp="1"/>
          </p:cNvSpPr>
          <p:nvPr/>
        </p:nvSpPr>
        <p:spPr>
          <a:xfrm>
            <a:off x="8134350" y="26670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Runtime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2F0EAA-8E1C-4DDA-96B9-644BE1A21036}"/>
              </a:ext>
            </a:extLst>
          </p:cNvPr>
          <p:cNvSpPr>
            <a:spLocks noGrp="1"/>
          </p:cNvSpPr>
          <p:nvPr/>
        </p:nvSpPr>
        <p:spPr>
          <a:xfrm>
            <a:off x="8134350" y="3095625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Dynamic memory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D77A67-7C3D-402B-9D7E-11C8B88716DE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2952750" cy="1638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403207-5968-419A-A21E-92385CE13236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29527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E57783-2B45-4EF7-B12E-9ADBA3607642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Why this project matters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E3315D-224C-4067-BCB0-B8365A6419A7}"/>
              </a:ext>
            </a:extLst>
          </p:cNvPr>
          <p:cNvSpPr>
            <a:spLocks noGrp="1"/>
          </p:cNvSpPr>
          <p:nvPr/>
        </p:nvSpPr>
        <p:spPr>
          <a:xfrm>
            <a:off x="1047750" y="4743450"/>
            <a:ext cx="2533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It connects theory with a working command-line system that stores, updates, searches, deletes, and analyzes student records.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69A97-46FF-46D1-B8A5-DBA6403E6C10}"/>
              </a:ext>
            </a:extLst>
          </p:cNvPr>
          <p:cNvSpPr>
            <a:spLocks noGrp="1"/>
          </p:cNvSpPr>
          <p:nvPr/>
        </p:nvSpPr>
        <p:spPr>
          <a:xfrm>
            <a:off x="4324350" y="3886200"/>
            <a:ext cx="2952750" cy="1638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B93C0D-D786-4DA8-B74B-3819F39CAB29}"/>
              </a:ext>
            </a:extLst>
          </p:cNvPr>
          <p:cNvSpPr>
            <a:spLocks noGrp="1"/>
          </p:cNvSpPr>
          <p:nvPr/>
        </p:nvSpPr>
        <p:spPr>
          <a:xfrm>
            <a:off x="4324350" y="3886200"/>
            <a:ext cx="2952750" cy="28575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990B1A-F158-4153-9E65-DADDE8AF08CF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Academic relevance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D28C51-8F79-43D2-B1EA-972A16A212B0}"/>
              </a:ext>
            </a:extLst>
          </p:cNvPr>
          <p:cNvSpPr>
            <a:spLocks noGrp="1"/>
          </p:cNvSpPr>
          <p:nvPr/>
        </p:nvSpPr>
        <p:spPr>
          <a:xfrm>
            <a:off x="4533900" y="4743450"/>
            <a:ext cx="2533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implementation shows how linked list nodes behave in real program execution, not only in diagrams.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D76585-C013-40F6-A261-5231D953BDE9}"/>
              </a:ext>
            </a:extLst>
          </p:cNvPr>
          <p:cNvSpPr>
            <a:spLocks noGrp="1"/>
          </p:cNvSpPr>
          <p:nvPr/>
        </p:nvSpPr>
        <p:spPr>
          <a:xfrm>
            <a:off x="7810500" y="3886200"/>
            <a:ext cx="2952750" cy="1638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138ECC-C404-4154-BFCC-6C8A8C03D835}"/>
              </a:ext>
            </a:extLst>
          </p:cNvPr>
          <p:cNvSpPr>
            <a:spLocks noGrp="1"/>
          </p:cNvSpPr>
          <p:nvPr/>
        </p:nvSpPr>
        <p:spPr>
          <a:xfrm>
            <a:off x="7810500" y="3886200"/>
            <a:ext cx="2952750" cy="28575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BB015F-D6EE-48EA-8D58-C588B9EFC2B9}"/>
              </a:ext>
            </a:extLst>
          </p:cNvPr>
          <p:cNvSpPr>
            <a:spLocks noGrp="1"/>
          </p:cNvSpPr>
          <p:nvPr/>
        </p:nvSpPr>
        <p:spPr>
          <a:xfrm>
            <a:off x="8020050" y="44386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Technical core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636A07-F90E-4EE0-BFB9-585853A45F89}"/>
              </a:ext>
            </a:extLst>
          </p:cNvPr>
          <p:cNvSpPr>
            <a:spLocks noGrp="1"/>
          </p:cNvSpPr>
          <p:nvPr/>
        </p:nvSpPr>
        <p:spPr>
          <a:xfrm>
            <a:off x="8020050" y="4743450"/>
            <a:ext cx="2533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Each operation requires pointer handling, node traversal, and careful link adjustment.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AD9A32-D07C-4E02-9F7B-CA2AA9484FF7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B05C5FD-1F31-464A-9947-FB2CAE26ADE2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BC6B83-5EB1-4012-9960-9BDB48FA6B6D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47750" y="4095750"/>
            <a:ext cx="285750" cy="285750"/>
          </a:xfrm>
          <a:prstGeom prst="rect">
            <a:avLst/>
          </a:prstGeom>
        </p:spPr>
      </p:pic>
      <p:pic>
        <p:nvPicPr>
          <p:cNvPr id="49" name="Graphic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33900" y="4095750"/>
            <a:ext cx="285750" cy="285750"/>
          </a:xfrm>
          <a:prstGeom prst="rect">
            <a:avLst/>
          </a:prstGeom>
        </p:spPr>
      </p:pic>
      <p:pic>
        <p:nvPicPr>
          <p:cNvPr id="50" name="Graphic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20050" y="4095750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9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8B65CF6-2618-461C-BDF3-C933BCBF59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9215647E-323F-470E-A147-E5BF3E2124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8B9FBE-564E-4035-AF6F-CBA259D55956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4D8821-4C77-4C08-B464-A133C010749F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89108F-2540-437C-BFD3-B8F5669814A4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7B8A7-F3B5-47C2-8A27-0615540AB735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347939-AAB2-4205-B39C-D920CA11D5B0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689B7-18DB-4A8A-AF3F-4125F8147962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26D76-307D-49C5-9162-75C5D5D662BE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F5E967-8492-4C0F-AD3E-50CE29FF2AF2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376C15-3C48-4F96-887E-C0F9BEA4AE74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14E851-670E-49FE-A63C-275DDD333DE9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EFD117-79BF-4362-9356-DFD4DC8576F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B92DBC-C92D-4BF2-A142-A39ED1FE5BC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AA63DB-ADC6-48D7-854C-2F5F222CFC7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F3AA3D58-E7F3-43CC-9F07-32AEDAA3C02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F792F4-97BA-4EFF-A74A-FDEC2D94F554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69C5A4A9-B2AC-4ACE-A4FB-DA79D1CCC08A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43FF81-F862-4929-B224-F545C3878908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Manual records and fixed arrays create avoidable friction.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6CF9A4-EDC0-4AA6-B3F2-80C498BAD3AC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system solves storage, insertion, deletion, and search limitations using dynamic linked-list nodes.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61EB46-52FD-4D2A-A794-67B021DCBA8E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10096500" cy="704850"/>
          </a:xfrm>
          <a:prstGeom prst="rect">
            <a:avLst/>
          </a:prstGeom>
          <a:solidFill>
            <a:srgbClr val="07111F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DD986A-5293-4FB7-9C34-25E5D7C58703}"/>
              </a:ext>
            </a:extLst>
          </p:cNvPr>
          <p:cNvSpPr>
            <a:spLocks noGrp="1"/>
          </p:cNvSpPr>
          <p:nvPr/>
        </p:nvSpPr>
        <p:spPr>
          <a:xfrm>
            <a:off x="1123950" y="24574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9E4F1A-0D6C-4A01-8A41-90DC9C577CE8}"/>
              </a:ext>
            </a:extLst>
          </p:cNvPr>
          <p:cNvSpPr>
            <a:spLocks noGrp="1"/>
          </p:cNvSpPr>
          <p:nvPr/>
        </p:nvSpPr>
        <p:spPr>
          <a:xfrm>
            <a:off x="1752600" y="2476500"/>
            <a:ext cx="19050" cy="2857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FBD3C6-9470-4D98-BEF2-D33CB474D12C}"/>
              </a:ext>
            </a:extLst>
          </p:cNvPr>
          <p:cNvSpPr>
            <a:spLocks noGrp="1"/>
          </p:cNvSpPr>
          <p:nvPr/>
        </p:nvSpPr>
        <p:spPr>
          <a:xfrm>
            <a:off x="2038350" y="2409825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Manual record keeping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A21EB2-AF7B-423F-A59E-61480E731C28}"/>
              </a:ext>
            </a:extLst>
          </p:cNvPr>
          <p:cNvSpPr>
            <a:spLocks noGrp="1"/>
          </p:cNvSpPr>
          <p:nvPr/>
        </p:nvSpPr>
        <p:spPr>
          <a:xfrm>
            <a:off x="5143500" y="2438400"/>
            <a:ext cx="485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Slow, repetitive, and error-prone during updates.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46E5B6-15F3-4E10-855F-4727E8B45811}"/>
              </a:ext>
            </a:extLst>
          </p:cNvPr>
          <p:cNvSpPr>
            <a:spLocks noGrp="1"/>
          </p:cNvSpPr>
          <p:nvPr/>
        </p:nvSpPr>
        <p:spPr>
          <a:xfrm>
            <a:off x="857250" y="3267075"/>
            <a:ext cx="10096500" cy="704850"/>
          </a:xfrm>
          <a:prstGeom prst="rect">
            <a:avLst/>
          </a:prstGeom>
          <a:solidFill>
            <a:srgbClr val="0F172A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E00AE5-6C66-4B0B-82C2-23688BDCA710}"/>
              </a:ext>
            </a:extLst>
          </p:cNvPr>
          <p:cNvSpPr>
            <a:spLocks noGrp="1"/>
          </p:cNvSpPr>
          <p:nvPr/>
        </p:nvSpPr>
        <p:spPr>
          <a:xfrm>
            <a:off x="1123950" y="34575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257934-A257-4DD9-8FB0-4A4C2E1246E7}"/>
              </a:ext>
            </a:extLst>
          </p:cNvPr>
          <p:cNvSpPr>
            <a:spLocks noGrp="1"/>
          </p:cNvSpPr>
          <p:nvPr/>
        </p:nvSpPr>
        <p:spPr>
          <a:xfrm>
            <a:off x="1752600" y="3476625"/>
            <a:ext cx="19050" cy="2857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75BE03-AD46-4E1F-BDF9-0E2236FA0CF6}"/>
              </a:ext>
            </a:extLst>
          </p:cNvPr>
          <p:cNvSpPr>
            <a:spLocks noGrp="1"/>
          </p:cNvSpPr>
          <p:nvPr/>
        </p:nvSpPr>
        <p:spPr>
          <a:xfrm>
            <a:off x="2038350" y="3409950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Array-based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5E79E3-762E-4CD2-950B-D00830E15209}"/>
              </a:ext>
            </a:extLst>
          </p:cNvPr>
          <p:cNvSpPr>
            <a:spLocks noGrp="1"/>
          </p:cNvSpPr>
          <p:nvPr/>
        </p:nvSpPr>
        <p:spPr>
          <a:xfrm>
            <a:off x="5143500" y="3438525"/>
            <a:ext cx="485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Fixed size and needs shifting during insert/delete.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CA058F-1052-425A-852B-6A48A65DB71C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10096500" cy="704850"/>
          </a:xfrm>
          <a:prstGeom prst="rect">
            <a:avLst/>
          </a:prstGeom>
          <a:solidFill>
            <a:srgbClr val="07111F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BFE576-D5C2-4D5A-BF8D-C32AE4EE3FD6}"/>
              </a:ext>
            </a:extLst>
          </p:cNvPr>
          <p:cNvSpPr>
            <a:spLocks noGrp="1"/>
          </p:cNvSpPr>
          <p:nvPr/>
        </p:nvSpPr>
        <p:spPr>
          <a:xfrm>
            <a:off x="1123950" y="44577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15AE9E-B65D-4AA1-8417-F4F10E732036}"/>
              </a:ext>
            </a:extLst>
          </p:cNvPr>
          <p:cNvSpPr>
            <a:spLocks noGrp="1"/>
          </p:cNvSpPr>
          <p:nvPr/>
        </p:nvSpPr>
        <p:spPr>
          <a:xfrm>
            <a:off x="1752600" y="4476750"/>
            <a:ext cx="19050" cy="2857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C625A1-83BD-4FE3-832F-1A6782C4AD40}"/>
              </a:ext>
            </a:extLst>
          </p:cNvPr>
          <p:cNvSpPr>
            <a:spLocks noGrp="1"/>
          </p:cNvSpPr>
          <p:nvPr/>
        </p:nvSpPr>
        <p:spPr>
          <a:xfrm>
            <a:off x="2038350" y="4410075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Runtime changes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8B5A4C-BD0E-4409-A58F-EF010693DAC5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485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New records must be added without rebuilding storage.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2C490E-6615-430B-A492-DDA4B9A152A6}"/>
              </a:ext>
            </a:extLst>
          </p:cNvPr>
          <p:cNvSpPr>
            <a:spLocks noGrp="1"/>
          </p:cNvSpPr>
          <p:nvPr/>
        </p:nvSpPr>
        <p:spPr>
          <a:xfrm>
            <a:off x="857250" y="5572125"/>
            <a:ext cx="10096500" cy="476250"/>
          </a:xfrm>
          <a:prstGeom prst="rect">
            <a:avLst/>
          </a:prstGeom>
          <a:solidFill>
            <a:srgbClr val="0C1B2B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5692D9-8533-4FA0-A756-96112C95E1F9}"/>
              </a:ext>
            </a:extLst>
          </p:cNvPr>
          <p:cNvSpPr>
            <a:spLocks noGrp="1"/>
          </p:cNvSpPr>
          <p:nvPr/>
        </p:nvSpPr>
        <p:spPr>
          <a:xfrm>
            <a:off x="1123950" y="5715000"/>
            <a:ext cx="952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Project aim: Create a dynamic student management system that can store, modify, search, and delete records efficiently during runtime.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1F4FD9-C511-4177-93F1-71B5C5710B05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D7AAC8-CAD6-4FB0-A5AE-0D5727557494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97F9F6-842D-4630-A0C2-525AFD60A13C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099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55BA18B7-9837-4455-829A-4C3570CDFF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C5A7AC43-D872-4AAB-A474-D3D71998CF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9EF8CE-115F-46B8-88E7-FDDF5D2C2E4C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580F36-92B2-4E41-96BF-86B89556FF45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89D04-D0A7-4865-8D60-589BE45B025F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DBCF-BE23-4EFA-A7C6-0499BA62EE5E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F4306-CE9F-41B3-AD7C-1CEADCFCDA23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BC815-E4BF-4844-A9CF-B64BA1F94A14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198DCC-E067-4523-A724-D8561A3B5E7D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B0043-8958-47BC-B338-AD95515B1908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8A0B97-A7E3-409E-B7A6-A2A615A9F50C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F910B3-E69D-48EB-9227-9814F45AB547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B9FA18-7C17-4139-A2A3-B093C26CC8E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90E5DA-A1E2-45B6-9ACF-EB10EFA86D9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88330E-E169-4C1F-9C29-B0C5B7F0186F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FAC9E503-3705-4C17-8E9F-514BD41F01A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4DC356-02CE-4DDA-8F42-621D0CC930A1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47C64DB3-775C-4698-8370-E2D9FBCE39F4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1242CC-5853-417A-A1B5-0575022CB664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project objective is to connect linked-list theory with a complete working system.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7BF73-340F-4457-A188-84008733AC30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Six implementation goals define the project scope and viva discussion.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5B945E-C539-4758-95EE-EDF90F8CDB6D}"/>
              </a:ext>
            </a:extLst>
          </p:cNvPr>
          <p:cNvSpPr>
            <a:spLocks noGrp="1"/>
          </p:cNvSpPr>
          <p:nvPr/>
        </p:nvSpPr>
        <p:spPr>
          <a:xfrm>
            <a:off x="704850" y="2333625"/>
            <a:ext cx="3143250" cy="1257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83234-8D4F-4748-9829-192BE5FF183B}"/>
              </a:ext>
            </a:extLst>
          </p:cNvPr>
          <p:cNvSpPr>
            <a:spLocks noGrp="1"/>
          </p:cNvSpPr>
          <p:nvPr/>
        </p:nvSpPr>
        <p:spPr>
          <a:xfrm>
            <a:off x="704850" y="2333625"/>
            <a:ext cx="31432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0F9A42-49FE-4080-B7B7-D6A0CD9367D4}"/>
              </a:ext>
            </a:extLst>
          </p:cNvPr>
          <p:cNvSpPr>
            <a:spLocks noGrp="1"/>
          </p:cNvSpPr>
          <p:nvPr/>
        </p:nvSpPr>
        <p:spPr>
          <a:xfrm>
            <a:off x="914400" y="28860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Implement SMS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C4F8F0-B190-4510-8F4E-4EAB26736F56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Build the Student Management System using a singly linked list.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C03657-9C0C-4926-BDE1-9C8ECBB5BF14}"/>
              </a:ext>
            </a:extLst>
          </p:cNvPr>
          <p:cNvSpPr>
            <a:spLocks noGrp="1"/>
          </p:cNvSpPr>
          <p:nvPr/>
        </p:nvSpPr>
        <p:spPr>
          <a:xfrm>
            <a:off x="4362450" y="2333625"/>
            <a:ext cx="3143250" cy="1257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87E3DA-7A9F-4506-A5A6-B7C30544F28F}"/>
              </a:ext>
            </a:extLst>
          </p:cNvPr>
          <p:cNvSpPr>
            <a:spLocks noGrp="1"/>
          </p:cNvSpPr>
          <p:nvPr/>
        </p:nvSpPr>
        <p:spPr>
          <a:xfrm>
            <a:off x="4362450" y="2333625"/>
            <a:ext cx="3143250" cy="28575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6113D9-FEA8-42C7-A393-A387ACD2D0FE}"/>
              </a:ext>
            </a:extLst>
          </p:cNvPr>
          <p:cNvSpPr>
            <a:spLocks noGrp="1"/>
          </p:cNvSpPr>
          <p:nvPr/>
        </p:nvSpPr>
        <p:spPr>
          <a:xfrm>
            <a:off x="4572000" y="28860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Dynamic records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3A2950-089C-45E3-A31D-4E8733A69C15}"/>
              </a:ext>
            </a:extLst>
          </p:cNvPr>
          <p:cNvSpPr>
            <a:spLocks noGrp="1"/>
          </p:cNvSpPr>
          <p:nvPr/>
        </p:nvSpPr>
        <p:spPr>
          <a:xfrm>
            <a:off x="4572000" y="3190875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Allocate nodes at runtime instead of using fixed-size arrays.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9496FF-322A-4F77-B1D5-101001E90CCC}"/>
              </a:ext>
            </a:extLst>
          </p:cNvPr>
          <p:cNvSpPr>
            <a:spLocks noGrp="1"/>
          </p:cNvSpPr>
          <p:nvPr/>
        </p:nvSpPr>
        <p:spPr>
          <a:xfrm>
            <a:off x="8020050" y="2333625"/>
            <a:ext cx="3143250" cy="1257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9B83F2-49C6-4B2A-B672-C3E7A0AF8401}"/>
              </a:ext>
            </a:extLst>
          </p:cNvPr>
          <p:cNvSpPr>
            <a:spLocks noGrp="1"/>
          </p:cNvSpPr>
          <p:nvPr/>
        </p:nvSpPr>
        <p:spPr>
          <a:xfrm>
            <a:off x="8020050" y="2333625"/>
            <a:ext cx="31432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A19FC8-465B-4FFD-9B01-9F5EEF24595F}"/>
              </a:ext>
            </a:extLst>
          </p:cNvPr>
          <p:cNvSpPr>
            <a:spLocks noGrp="1"/>
          </p:cNvSpPr>
          <p:nvPr/>
        </p:nvSpPr>
        <p:spPr>
          <a:xfrm>
            <a:off x="8229600" y="28860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CRUD operations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B37D48-D4EC-4B5B-91D1-4C99455C78A6}"/>
              </a:ext>
            </a:extLst>
          </p:cNvPr>
          <p:cNvSpPr>
            <a:spLocks noGrp="1"/>
          </p:cNvSpPr>
          <p:nvPr/>
        </p:nvSpPr>
        <p:spPr>
          <a:xfrm>
            <a:off x="8229600" y="3190875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Perform insertion, display, search, update, and delete.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8A062B-CFD6-430B-93B3-BA4E14034390}"/>
              </a:ext>
            </a:extLst>
          </p:cNvPr>
          <p:cNvSpPr>
            <a:spLocks noGrp="1"/>
          </p:cNvSpPr>
          <p:nvPr/>
        </p:nvSpPr>
        <p:spPr>
          <a:xfrm>
            <a:off x="704850" y="3857625"/>
            <a:ext cx="3143250" cy="1257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96A768-BE19-473C-8CD8-5C200E87764D}"/>
              </a:ext>
            </a:extLst>
          </p:cNvPr>
          <p:cNvSpPr>
            <a:spLocks noGrp="1"/>
          </p:cNvSpPr>
          <p:nvPr/>
        </p:nvSpPr>
        <p:spPr>
          <a:xfrm>
            <a:off x="704850" y="3857625"/>
            <a:ext cx="3143250" cy="28575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C3E5D5-A957-46B4-B95A-3928B206BC29}"/>
              </a:ext>
            </a:extLst>
          </p:cNvPr>
          <p:cNvSpPr>
            <a:spLocks noGrp="1"/>
          </p:cNvSpPr>
          <p:nvPr/>
        </p:nvSpPr>
        <p:spPr>
          <a:xfrm>
            <a:off x="914400" y="44100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Marks logic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DEEA4D-E209-4CF5-956B-0B23C901DC77}"/>
              </a:ext>
            </a:extLst>
          </p:cNvPr>
          <p:cNvSpPr>
            <a:spLocks noGrp="1"/>
          </p:cNvSpPr>
          <p:nvPr/>
        </p:nvSpPr>
        <p:spPr>
          <a:xfrm>
            <a:off x="914400" y="4714875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Calculate total marks and percentage for each student.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A263B8-D341-4C96-AFA2-0C4AC64F2ADF}"/>
              </a:ext>
            </a:extLst>
          </p:cNvPr>
          <p:cNvSpPr>
            <a:spLocks noGrp="1"/>
          </p:cNvSpPr>
          <p:nvPr/>
        </p:nvSpPr>
        <p:spPr>
          <a:xfrm>
            <a:off x="4362450" y="3857625"/>
            <a:ext cx="3143250" cy="1257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77FFA0-81A5-41F4-BF21-E946C970D8BD}"/>
              </a:ext>
            </a:extLst>
          </p:cNvPr>
          <p:cNvSpPr>
            <a:spLocks noGrp="1"/>
          </p:cNvSpPr>
          <p:nvPr/>
        </p:nvSpPr>
        <p:spPr>
          <a:xfrm>
            <a:off x="4362450" y="3857625"/>
            <a:ext cx="31432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E6FB1F-38DC-410F-89C9-07C02B092F79}"/>
              </a:ext>
            </a:extLst>
          </p:cNvPr>
          <p:cNvSpPr>
            <a:spLocks noGrp="1"/>
          </p:cNvSpPr>
          <p:nvPr/>
        </p:nvSpPr>
        <p:spPr>
          <a:xfrm>
            <a:off x="4572000" y="44100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Pass/fail view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D154AA-3476-4A07-8C36-654F92E4E36E}"/>
              </a:ext>
            </a:extLst>
          </p:cNvPr>
          <p:cNvSpPr>
            <a:spLocks noGrp="1"/>
          </p:cNvSpPr>
          <p:nvPr/>
        </p:nvSpPr>
        <p:spPr>
          <a:xfrm>
            <a:off x="4572000" y="4714875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Classify records based on result status.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32A0F8-C312-4C4A-BFB5-087237729D8D}"/>
              </a:ext>
            </a:extLst>
          </p:cNvPr>
          <p:cNvSpPr>
            <a:spLocks noGrp="1"/>
          </p:cNvSpPr>
          <p:nvPr/>
        </p:nvSpPr>
        <p:spPr>
          <a:xfrm>
            <a:off x="8020050" y="3857625"/>
            <a:ext cx="3143250" cy="125730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A38412-57FD-4EA7-9803-ECA2FE749B78}"/>
              </a:ext>
            </a:extLst>
          </p:cNvPr>
          <p:cNvSpPr>
            <a:spLocks noGrp="1"/>
          </p:cNvSpPr>
          <p:nvPr/>
        </p:nvSpPr>
        <p:spPr>
          <a:xfrm>
            <a:off x="8020050" y="3857625"/>
            <a:ext cx="3143250" cy="28575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2406B7-60EB-4644-ADF4-DBA419856D7E}"/>
              </a:ext>
            </a:extLst>
          </p:cNvPr>
          <p:cNvSpPr>
            <a:spLocks noGrp="1"/>
          </p:cNvSpPr>
          <p:nvPr/>
        </p:nvSpPr>
        <p:spPr>
          <a:xfrm>
            <a:off x="8229600" y="441007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DS practice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2490F6-DF31-4A17-AF74-15B400A15463}"/>
              </a:ext>
            </a:extLst>
          </p:cNvPr>
          <p:cNvSpPr>
            <a:spLocks noGrp="1"/>
          </p:cNvSpPr>
          <p:nvPr/>
        </p:nvSpPr>
        <p:spPr>
          <a:xfrm>
            <a:off x="8229600" y="4714875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Understand structures, pointers, traversal, and node manipulation.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6ACD16-C23E-421C-997B-16839C22E826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4B6AE5-6C3E-45F3-9E4C-C7A69EA72265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B376934-9266-413B-A6BD-BB3810C37814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14400" y="2543175"/>
            <a:ext cx="285750" cy="285750"/>
          </a:xfrm>
          <a:prstGeom prst="rect">
            <a:avLst/>
          </a:prstGeom>
        </p:spPr>
      </p:pic>
      <p:pic>
        <p:nvPicPr>
          <p:cNvPr id="49" name="Graphic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72000" y="2543175"/>
            <a:ext cx="285750" cy="285750"/>
          </a:xfrm>
          <a:prstGeom prst="rect">
            <a:avLst/>
          </a:prstGeom>
        </p:spPr>
      </p:pic>
      <p:pic>
        <p:nvPicPr>
          <p:cNvPr id="50" name="Graphic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29600" y="2543175"/>
            <a:ext cx="285750" cy="285750"/>
          </a:xfrm>
          <a:prstGeom prst="rect">
            <a:avLst/>
          </a:prstGeom>
        </p:spPr>
      </p:pic>
      <p:pic>
        <p:nvPicPr>
          <p:cNvPr id="51" name="Graphic 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4067175"/>
            <a:ext cx="285750" cy="285750"/>
          </a:xfrm>
          <a:prstGeom prst="rect">
            <a:avLst/>
          </a:prstGeom>
        </p:spPr>
      </p:pic>
      <p:pic>
        <p:nvPicPr>
          <p:cNvPr id="52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572000" y="4067175"/>
            <a:ext cx="285750" cy="285750"/>
          </a:xfrm>
          <a:prstGeom prst="rect">
            <a:avLst/>
          </a:prstGeom>
        </p:spPr>
      </p:pic>
      <p:pic>
        <p:nvPicPr>
          <p:cNvPr id="53" name="Graphic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229600" y="4067175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5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7CFF035A-3B16-4D37-8716-5F05CAE714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DAB73815-DE3C-4F7A-8E79-747AF56C3C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4023F0-2DB4-41E5-85AB-010DA777D8AC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5BE2C-53EA-4C0D-AC1F-5E08E40CCCE8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E90D5-2117-4C12-A55F-394A1522A624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528C6E-9EF2-4E53-8944-B4D21E672B56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BCE745-C5C2-47FA-BEA2-A8181E1C9A45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C5596B-D188-4103-866A-529CDE7AC707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563E9-F350-4D2C-8C08-D42EA4707EEC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73C381-D40C-46CE-843F-8AEB4006894B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B28E0-258E-4198-9CA8-B79918973E0C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EF71B-E2E5-405B-9291-2121BA01DB5F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2C7C31B-5AF1-4DB5-BD0A-EB33A56D9311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DC022F8-9BCC-4CB0-955F-9600BD012052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9FB52-E4BA-4A69-BE39-7870B4FD7947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4C050F3C-3D65-4359-9872-7D7EF1422E1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FB0C18-1BA7-4548-969D-92A3D1D354E2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9458E026-E42F-45D4-937F-7E561F1F16F1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680D81-B228-4638-885C-99A8C3A93335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current version is academic, but the architecture can grow.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C75755-E58A-400D-B5CF-F0439F838C86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It is intentionally console-based so the data structure stays visible and easy to explain.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FA5326-D26A-46D7-B3E7-5EB4DDA046A7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2857500" cy="2190750"/>
          </a:xfrm>
          <a:prstGeom prst="rect">
            <a:avLst/>
          </a:prstGeom>
          <a:solidFill>
            <a:srgbClr val="07111F"/>
          </a:solidFill>
          <a:ln w="11430">
            <a:solidFill>
              <a:srgbClr val="164E6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7BBC48-C79F-4783-988F-1B96A1669095}"/>
              </a:ext>
            </a:extLst>
          </p:cNvPr>
          <p:cNvSpPr>
            <a:spLocks noGrp="1"/>
          </p:cNvSpPr>
          <p:nvPr/>
        </p:nvSpPr>
        <p:spPr>
          <a:xfrm>
            <a:off x="1238250" y="3581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Academic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7F1AB3-EFB0-404A-B1FA-962F4EBE2600}"/>
              </a:ext>
            </a:extLst>
          </p:cNvPr>
          <p:cNvSpPr>
            <a:spLocks noGrp="1"/>
          </p:cNvSpPr>
          <p:nvPr/>
        </p:nvSpPr>
        <p:spPr>
          <a:xfrm>
            <a:off x="1238250" y="3990975"/>
            <a:ext cx="5143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C8FF21-AADA-43B5-8817-33C7CED27ABE}"/>
              </a:ext>
            </a:extLst>
          </p:cNvPr>
          <p:cNvSpPr>
            <a:spLocks noGrp="1"/>
          </p:cNvSpPr>
          <p:nvPr/>
        </p:nvSpPr>
        <p:spPr>
          <a:xfrm>
            <a:off x="1238250" y="4229100"/>
            <a:ext cx="2266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Best suited for understanding linked lists through implementation.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ECC923-2515-450F-9911-D38A592DA59A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2857500" cy="2190750"/>
          </a:xfrm>
          <a:prstGeom prst="rect">
            <a:avLst/>
          </a:prstGeom>
          <a:solidFill>
            <a:srgbClr val="07111F"/>
          </a:solidFill>
          <a:ln w="11430">
            <a:solidFill>
              <a:srgbClr val="FACC1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305012-21C6-40B7-9498-A8E777DD723E}"/>
              </a:ext>
            </a:extLst>
          </p:cNvPr>
          <p:cNvSpPr>
            <a:spLocks noGrp="1"/>
          </p:cNvSpPr>
          <p:nvPr/>
        </p:nvSpPr>
        <p:spPr>
          <a:xfrm>
            <a:off x="4667250" y="3581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Efficient record handling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34A4B-DCFB-4B97-AF7F-6FACA46EEB00}"/>
              </a:ext>
            </a:extLst>
          </p:cNvPr>
          <p:cNvSpPr>
            <a:spLocks noGrp="1"/>
          </p:cNvSpPr>
          <p:nvPr/>
        </p:nvSpPr>
        <p:spPr>
          <a:xfrm>
            <a:off x="4667250" y="3990975"/>
            <a:ext cx="514350" cy="28575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5CC882-8E16-471C-A5BC-AD64663EFEF4}"/>
              </a:ext>
            </a:extLst>
          </p:cNvPr>
          <p:cNvSpPr>
            <a:spLocks noGrp="1"/>
          </p:cNvSpPr>
          <p:nvPr/>
        </p:nvSpPr>
        <p:spPr>
          <a:xfrm>
            <a:off x="4667250" y="4229100"/>
            <a:ext cx="2266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Records can be added or removed dynamically at runtime.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003803-3A84-4DF2-8139-530E0D832E62}"/>
              </a:ext>
            </a:extLst>
          </p:cNvPr>
          <p:cNvSpPr>
            <a:spLocks noGrp="1"/>
          </p:cNvSpPr>
          <p:nvPr/>
        </p:nvSpPr>
        <p:spPr>
          <a:xfrm>
            <a:off x="7791450" y="2686050"/>
            <a:ext cx="2857500" cy="2190750"/>
          </a:xfrm>
          <a:prstGeom prst="rect">
            <a:avLst/>
          </a:prstGeom>
          <a:solidFill>
            <a:srgbClr val="07111F"/>
          </a:solidFill>
          <a:ln w="11430">
            <a:solidFill>
              <a:srgbClr val="164E6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3CA09B-4CCF-49AF-8C64-4C501142BD63}"/>
              </a:ext>
            </a:extLst>
          </p:cNvPr>
          <p:cNvSpPr>
            <a:spLocks noGrp="1"/>
          </p:cNvSpPr>
          <p:nvPr/>
        </p:nvSpPr>
        <p:spPr>
          <a:xfrm>
            <a:off x="8096250" y="3581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Extendable base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94B7DB-C98E-4870-948A-CF692EB4F07E}"/>
              </a:ext>
            </a:extLst>
          </p:cNvPr>
          <p:cNvSpPr>
            <a:spLocks noGrp="1"/>
          </p:cNvSpPr>
          <p:nvPr/>
        </p:nvSpPr>
        <p:spPr>
          <a:xfrm>
            <a:off x="8096250" y="3990975"/>
            <a:ext cx="51435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A62ABB-A751-4812-AAA8-10747A7BB26B}"/>
              </a:ext>
            </a:extLst>
          </p:cNvPr>
          <p:cNvSpPr>
            <a:spLocks noGrp="1"/>
          </p:cNvSpPr>
          <p:nvPr/>
        </p:nvSpPr>
        <p:spPr>
          <a:xfrm>
            <a:off x="8096250" y="4229100"/>
            <a:ext cx="2266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File handling, databases, GUI, and analytics can be added later.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12CEF7-1877-4DCC-8CE4-382C5ECD8875}"/>
              </a:ext>
            </a:extLst>
          </p:cNvPr>
          <p:cNvSpPr>
            <a:spLocks noGrp="1"/>
          </p:cNvSpPr>
          <p:nvPr/>
        </p:nvSpPr>
        <p:spPr>
          <a:xfrm>
            <a:off x="1371600" y="5476875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Scope boundary: The project focuses on data-structure logic, not permanent storage or GUI design.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7D253F-AEDE-408A-BA5D-2F5283F6758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0B0129-920A-49FF-A1C5-E68872BA8246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EDC89F-065D-4BFC-B147-13F66058A197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37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38250" y="2971800"/>
            <a:ext cx="400050" cy="400050"/>
          </a:xfrm>
          <a:prstGeom prst="rect">
            <a:avLst/>
          </a:prstGeom>
        </p:spPr>
      </p:pic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67250" y="2971800"/>
            <a:ext cx="400050" cy="400050"/>
          </a:xfrm>
          <a:prstGeom prst="rect">
            <a:avLst/>
          </a:prstGeom>
        </p:spPr>
      </p:pic>
      <p:pic>
        <p:nvPicPr>
          <p:cNvPr id="39" name="Graphic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96250" y="2971800"/>
            <a:ext cx="4000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7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A2459FF-DB1C-4F5D-BBFE-FC7C667AF0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D9F10BFA-3BC5-4DC6-B371-C3318775D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F2FC1-D3DB-490E-BF8F-8E6DD1976646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332695-3FC3-4DFC-AAF4-0D94BBE9C990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7D4454-8110-4CF0-89F2-94C9785F27CA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A09A90-96AA-4A46-BFF1-C2AAF79051E7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07DE67-586A-4E27-B378-5EA973BDF90A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6181E0-F1BA-4F37-A65C-93F0FB68273B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C027E5-9432-46BD-BDD8-CD7B1DDF5E73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24A6E-4075-44F8-AB0E-C68B26A67609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914065-24FE-475B-8BBE-6D3E85441089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158EB6-038A-4E21-B2D8-889F64148FE0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F30096-4427-42FD-A063-017FBF18F25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DDBBBE-DD70-49B1-B281-CF5082B3D660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B90654-2D3E-4A19-8945-59532F8B61C1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C1B64992-F20C-448D-B31F-EBA604160FD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293FEC-5FE2-47E9-8B37-1367FC5F4A69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B07E95D6-EB4E-4344-880E-A766B6303DE6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CONCEPTS USED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7B60CD-69E0-43FF-AEA1-ED96E7DC953F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Each concept maps directly to one responsibility in the program.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A5A999-3D3E-45BB-BC06-6447774AC444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deck avoids abstract definitions and ties each data-structure idea to project behavior.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F51BF4-C71B-4A69-AEBD-86E15EACD755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9906000" cy="514350"/>
          </a:xfrm>
          <a:prstGeom prst="rect">
            <a:avLst/>
          </a:prstGeom>
          <a:solidFill>
            <a:srgbClr val="07111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7D8D16-EADE-4129-97FC-819D9B8E4067}"/>
              </a:ext>
            </a:extLst>
          </p:cNvPr>
          <p:cNvSpPr>
            <a:spLocks noGrp="1"/>
          </p:cNvSpPr>
          <p:nvPr/>
        </p:nvSpPr>
        <p:spPr>
          <a:xfrm>
            <a:off x="1638300" y="25431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Structures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4C683E-5BF5-4791-80AC-D56EA196824B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19050" cy="2095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D56128-596F-4F0A-A111-FB320CCF38CF}"/>
              </a:ext>
            </a:extLst>
          </p:cNvPr>
          <p:cNvSpPr>
            <a:spLocks noGrp="1"/>
          </p:cNvSpPr>
          <p:nvPr/>
        </p:nvSpPr>
        <p:spPr>
          <a:xfrm>
            <a:off x="4191000" y="25527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Group roll number, name, marks, total, percentage, and next pointer.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4BD149-93C5-45AF-A636-DB0DC58247F2}"/>
              </a:ext>
            </a:extLst>
          </p:cNvPr>
          <p:cNvSpPr>
            <a:spLocks noGrp="1"/>
          </p:cNvSpPr>
          <p:nvPr/>
        </p:nvSpPr>
        <p:spPr>
          <a:xfrm>
            <a:off x="876300" y="3019425"/>
            <a:ext cx="9906000" cy="5143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369E91-4C3A-489C-8595-8F3C0742DE09}"/>
              </a:ext>
            </a:extLst>
          </p:cNvPr>
          <p:cNvSpPr>
            <a:spLocks noGrp="1"/>
          </p:cNvSpPr>
          <p:nvPr/>
        </p:nvSpPr>
        <p:spPr>
          <a:xfrm>
            <a:off x="1638300" y="3162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FF6291-512A-460C-9801-A275CD1E154B}"/>
              </a:ext>
            </a:extLst>
          </p:cNvPr>
          <p:cNvSpPr>
            <a:spLocks noGrp="1"/>
          </p:cNvSpPr>
          <p:nvPr/>
        </p:nvSpPr>
        <p:spPr>
          <a:xfrm>
            <a:off x="3905250" y="3190875"/>
            <a:ext cx="19050" cy="2095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B45015-3956-42C3-943D-F8A51FDBD858}"/>
              </a:ext>
            </a:extLst>
          </p:cNvPr>
          <p:cNvSpPr>
            <a:spLocks noGrp="1"/>
          </p:cNvSpPr>
          <p:nvPr/>
        </p:nvSpPr>
        <p:spPr>
          <a:xfrm>
            <a:off x="4191000" y="3171825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Store node addresses and move through the linked list.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40E88D-25EF-4704-BF82-3319867780ED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9906000" cy="514350"/>
          </a:xfrm>
          <a:prstGeom prst="rect">
            <a:avLst/>
          </a:prstGeom>
          <a:solidFill>
            <a:srgbClr val="07111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AB2D1F-8240-45AE-AA7B-0E945031EC19}"/>
              </a:ext>
            </a:extLst>
          </p:cNvPr>
          <p:cNvSpPr>
            <a:spLocks noGrp="1"/>
          </p:cNvSpPr>
          <p:nvPr/>
        </p:nvSpPr>
        <p:spPr>
          <a:xfrm>
            <a:off x="1638300" y="378142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malloc()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9EF4E1-7F0A-4479-B8A4-D2E80D61C23B}"/>
              </a:ext>
            </a:extLst>
          </p:cNvPr>
          <p:cNvSpPr>
            <a:spLocks noGrp="1"/>
          </p:cNvSpPr>
          <p:nvPr/>
        </p:nvSpPr>
        <p:spPr>
          <a:xfrm>
            <a:off x="3905250" y="3810000"/>
            <a:ext cx="19050" cy="2095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77A38-462D-492D-9DC1-8B52BE9259E1}"/>
              </a:ext>
            </a:extLst>
          </p:cNvPr>
          <p:cNvSpPr>
            <a:spLocks noGrp="1"/>
          </p:cNvSpPr>
          <p:nvPr/>
        </p:nvSpPr>
        <p:spPr>
          <a:xfrm>
            <a:off x="4191000" y="37909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Create student nodes dynamically during runtime.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D6EC9B-A60A-4F89-B2BA-F336CC0B6C28}"/>
              </a:ext>
            </a:extLst>
          </p:cNvPr>
          <p:cNvSpPr>
            <a:spLocks noGrp="1"/>
          </p:cNvSpPr>
          <p:nvPr/>
        </p:nvSpPr>
        <p:spPr>
          <a:xfrm>
            <a:off x="876300" y="4257675"/>
            <a:ext cx="9906000" cy="5143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DEEFF5-8DF7-4671-A019-B74F22A841A4}"/>
              </a:ext>
            </a:extLst>
          </p:cNvPr>
          <p:cNvSpPr>
            <a:spLocks noGrp="1"/>
          </p:cNvSpPr>
          <p:nvPr/>
        </p:nvSpPr>
        <p:spPr>
          <a:xfrm>
            <a:off x="1638300" y="44005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Traversal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351279-AAB1-4744-A097-DBA7D70EBDA7}"/>
              </a:ext>
            </a:extLst>
          </p:cNvPr>
          <p:cNvSpPr>
            <a:spLocks noGrp="1"/>
          </p:cNvSpPr>
          <p:nvPr/>
        </p:nvSpPr>
        <p:spPr>
          <a:xfrm>
            <a:off x="3905250" y="4429125"/>
            <a:ext cx="19050" cy="2095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044B77F-8D72-4C19-966B-5B042F016684}"/>
              </a:ext>
            </a:extLst>
          </p:cNvPr>
          <p:cNvSpPr>
            <a:spLocks noGrp="1"/>
          </p:cNvSpPr>
          <p:nvPr/>
        </p:nvSpPr>
        <p:spPr>
          <a:xfrm>
            <a:off x="4191000" y="4410075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Visit each node for display, search, count, and analysis.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FF5A9E-443F-495E-B6DE-35F82667B1B8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9906000" cy="514350"/>
          </a:xfrm>
          <a:prstGeom prst="rect">
            <a:avLst/>
          </a:prstGeom>
          <a:solidFill>
            <a:srgbClr val="07111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EB434A-ECA4-4188-8E5D-4B07CC52497A}"/>
              </a:ext>
            </a:extLst>
          </p:cNvPr>
          <p:cNvSpPr>
            <a:spLocks noGrp="1"/>
          </p:cNvSpPr>
          <p:nvPr/>
        </p:nvSpPr>
        <p:spPr>
          <a:xfrm>
            <a:off x="1638300" y="50196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Node manipulation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2E946FD-1A69-4FEE-9386-274C750E3E3A}"/>
              </a:ext>
            </a:extLst>
          </p:cNvPr>
          <p:cNvSpPr>
            <a:spLocks noGrp="1"/>
          </p:cNvSpPr>
          <p:nvPr/>
        </p:nvSpPr>
        <p:spPr>
          <a:xfrm>
            <a:off x="3905250" y="5048250"/>
            <a:ext cx="19050" cy="20955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58D1C0-22B3-41AE-904A-8C553B04010E}"/>
              </a:ext>
            </a:extLst>
          </p:cNvPr>
          <p:cNvSpPr>
            <a:spLocks noGrp="1"/>
          </p:cNvSpPr>
          <p:nvPr/>
        </p:nvSpPr>
        <p:spPr>
          <a:xfrm>
            <a:off x="4191000" y="50292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Adjust links during insertion and deletion.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BADC01-A7A6-4B33-B1C3-C3C15F3A0519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03ABA1-E675-443F-871D-FA886605C44C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C6EC24-B971-4ED7-9E65-F7A01E23A4C2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44" name="Graphic 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43000" y="2514600"/>
            <a:ext cx="266700" cy="266700"/>
          </a:xfrm>
          <a:prstGeom prst="rect">
            <a:avLst/>
          </a:prstGeom>
        </p:spPr>
      </p:pic>
      <p:pic>
        <p:nvPicPr>
          <p:cNvPr id="45" name="Graphic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43000" y="3133725"/>
            <a:ext cx="266700" cy="266700"/>
          </a:xfrm>
          <a:prstGeom prst="rect">
            <a:avLst/>
          </a:prstGeom>
        </p:spPr>
      </p:pic>
      <p:pic>
        <p:nvPicPr>
          <p:cNvPr id="46" name="Graphic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143000" y="3752850"/>
            <a:ext cx="266700" cy="266700"/>
          </a:xfrm>
          <a:prstGeom prst="rect">
            <a:avLst/>
          </a:prstGeom>
        </p:spPr>
      </p:pic>
      <p:pic>
        <p:nvPicPr>
          <p:cNvPr id="47" name="Graphic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43000" y="4371975"/>
            <a:ext cx="266700" cy="266700"/>
          </a:xfrm>
          <a:prstGeom prst="rect">
            <a:avLst/>
          </a:prstGeom>
        </p:spPr>
      </p:pic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143000" y="49911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57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4D10AF9-17D2-4772-89C7-CF3CCB53F9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AE7683B1-8A4A-4AC9-8857-C1B077ECB8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A0061-BEC3-4503-8CCB-2781A1A82530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5E246-1B12-43CE-936F-B4EC3D3A51BE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BF56F-78A8-4C86-8A18-F113FF9C08E5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F0B86-3425-4464-9D8E-81AA29A91DBF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265E7F-9F0F-44EC-909C-F4B9DC950013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09DFB-19BA-4125-A41F-586C6C7AEF18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26D422-E576-41C7-B144-4D97C8128494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8AFC9B-2CBA-41DA-BD11-1A1479D1B11F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55DEF-7C6D-4028-81AC-CBFC306A4C59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C5E0A9-46A5-450C-936F-98B0FF4C190E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EC4356-6FD0-4B7E-8607-14D4C9516138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3ED57F-7DC9-494B-BA68-D8F3D90F6CA7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98A19A-CB0D-4CAE-BB9B-4B736D5D5BA4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ED74445A-F041-4F9E-B6E6-5F12B2F08692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5317E-968B-4FBF-B1D7-067B5CD9E227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C7AD1427-C422-4863-9658-CB49F187FABC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7C2AF9-C0CD-4989-9D71-990F621EFED9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Every student record becomes one node connected by a next pointer.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AFFA6A-6CD2-47BA-BF23-FFEBC25E33AC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head pointer stores the first node address; the last node points to NULL.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7E59ED-157D-47A1-9733-2358DE5773D0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60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HEAD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1D86FD-8375-402B-B38D-A0FA638FD108}"/>
              </a:ext>
            </a:extLst>
          </p:cNvPr>
          <p:cNvSpPr>
            <a:spLocks noGrp="1"/>
          </p:cNvSpPr>
          <p:nvPr/>
        </p:nvSpPr>
        <p:spPr>
          <a:xfrm>
            <a:off x="1524000" y="3152775"/>
            <a:ext cx="552450" cy="19050"/>
          </a:xfrm>
          <a:prstGeom prst="rect">
            <a:avLst/>
          </a:prstGeom>
          <a:solidFill>
            <a:srgbClr val="FACC15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0A99282-58F7-483F-9904-0F7A718134EF}"/>
              </a:ext>
            </a:extLst>
          </p:cNvPr>
          <p:cNvSpPr>
            <a:spLocks noGrp="1"/>
          </p:cNvSpPr>
          <p:nvPr/>
        </p:nvSpPr>
        <p:spPr>
          <a:xfrm>
            <a:off x="2057400" y="3095625"/>
            <a:ext cx="152400" cy="133350"/>
          </a:xfrm>
          <a:prstGeom prst="triangle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236717-7571-40FE-AA1E-B34C90F4FE2D}"/>
              </a:ext>
            </a:extLst>
          </p:cNvPr>
          <p:cNvSpPr>
            <a:spLocks noGrp="1"/>
          </p:cNvSpPr>
          <p:nvPr/>
        </p:nvSpPr>
        <p:spPr>
          <a:xfrm>
            <a:off x="2343150" y="2819400"/>
            <a:ext cx="1123950" cy="68580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D07749-6000-420E-9A2F-4A4CB7E823C5}"/>
              </a:ext>
            </a:extLst>
          </p:cNvPr>
          <p:cNvSpPr>
            <a:spLocks noGrp="1"/>
          </p:cNvSpPr>
          <p:nvPr/>
        </p:nvSpPr>
        <p:spPr>
          <a:xfrm>
            <a:off x="2457450" y="29146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A0CBCA-4417-46A6-9484-FF0E4B316F18}"/>
              </a:ext>
            </a:extLst>
          </p:cNvPr>
          <p:cNvSpPr>
            <a:spLocks noGrp="1"/>
          </p:cNvSpPr>
          <p:nvPr/>
        </p:nvSpPr>
        <p:spPr>
          <a:xfrm>
            <a:off x="2438400" y="3143250"/>
            <a:ext cx="9334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929289-0170-4EAA-ACD3-FAF2D7BE38BA}"/>
              </a:ext>
            </a:extLst>
          </p:cNvPr>
          <p:cNvSpPr>
            <a:spLocks noGrp="1"/>
          </p:cNvSpPr>
          <p:nvPr/>
        </p:nvSpPr>
        <p:spPr>
          <a:xfrm>
            <a:off x="2457450" y="32289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Roll 101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D2F262-C279-4FD5-A216-A21B6F8F1193}"/>
              </a:ext>
            </a:extLst>
          </p:cNvPr>
          <p:cNvSpPr>
            <a:spLocks noGrp="1"/>
          </p:cNvSpPr>
          <p:nvPr/>
        </p:nvSpPr>
        <p:spPr>
          <a:xfrm>
            <a:off x="3524250" y="3152775"/>
            <a:ext cx="6667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1DCD6FA-1ADB-469B-8AE8-A5C58AD33691}"/>
              </a:ext>
            </a:extLst>
          </p:cNvPr>
          <p:cNvSpPr>
            <a:spLocks noGrp="1"/>
          </p:cNvSpPr>
          <p:nvPr/>
        </p:nvSpPr>
        <p:spPr>
          <a:xfrm>
            <a:off x="4171950" y="3095625"/>
            <a:ext cx="152400" cy="133350"/>
          </a:xfrm>
          <a:prstGeom prst="triangl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1E1765-2E29-4006-8A94-D1FD04064610}"/>
              </a:ext>
            </a:extLst>
          </p:cNvPr>
          <p:cNvSpPr>
            <a:spLocks noGrp="1"/>
          </p:cNvSpPr>
          <p:nvPr/>
        </p:nvSpPr>
        <p:spPr>
          <a:xfrm>
            <a:off x="4457700" y="2819400"/>
            <a:ext cx="1123950" cy="685800"/>
          </a:xfrm>
          <a:prstGeom prst="rect">
            <a:avLst/>
          </a:prstGeom>
          <a:solidFill>
            <a:srgbClr val="07111F"/>
          </a:solidFill>
          <a:ln w="14288">
            <a:solidFill>
              <a:srgbClr val="38BDF8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8A0FE5-C73F-4B1F-AAB1-13EBF88AC22D}"/>
              </a:ext>
            </a:extLst>
          </p:cNvPr>
          <p:cNvSpPr>
            <a:spLocks noGrp="1"/>
          </p:cNvSpPr>
          <p:nvPr/>
        </p:nvSpPr>
        <p:spPr>
          <a:xfrm>
            <a:off x="4572000" y="29146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56332A-FF83-4BE3-9BC3-8B0A54BBD457}"/>
              </a:ext>
            </a:extLst>
          </p:cNvPr>
          <p:cNvSpPr>
            <a:spLocks noGrp="1"/>
          </p:cNvSpPr>
          <p:nvPr/>
        </p:nvSpPr>
        <p:spPr>
          <a:xfrm>
            <a:off x="4552950" y="3143250"/>
            <a:ext cx="9334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FA968E-98BC-4BE4-97EA-195B45A15194}"/>
              </a:ext>
            </a:extLst>
          </p:cNvPr>
          <p:cNvSpPr>
            <a:spLocks noGrp="1"/>
          </p:cNvSpPr>
          <p:nvPr/>
        </p:nvSpPr>
        <p:spPr>
          <a:xfrm>
            <a:off x="4572000" y="32289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Roll 102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A84A72-1060-474F-9E93-AB1B114A28CE}"/>
              </a:ext>
            </a:extLst>
          </p:cNvPr>
          <p:cNvSpPr>
            <a:spLocks noGrp="1"/>
          </p:cNvSpPr>
          <p:nvPr/>
        </p:nvSpPr>
        <p:spPr>
          <a:xfrm>
            <a:off x="5638800" y="3152775"/>
            <a:ext cx="666750" cy="19050"/>
          </a:xfrm>
          <a:prstGeom prst="rect">
            <a:avLst/>
          </a:prstGeom>
          <a:solidFill>
            <a:srgbClr val="38BDF8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72E7E50A-7B99-4BB6-8183-97B51A4FDC09}"/>
              </a:ext>
            </a:extLst>
          </p:cNvPr>
          <p:cNvSpPr>
            <a:spLocks noGrp="1"/>
          </p:cNvSpPr>
          <p:nvPr/>
        </p:nvSpPr>
        <p:spPr>
          <a:xfrm>
            <a:off x="6286500" y="3095625"/>
            <a:ext cx="152400" cy="133350"/>
          </a:xfrm>
          <a:prstGeom prst="triangle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7E0533-D585-47D8-9C3B-EA5C89E10C92}"/>
              </a:ext>
            </a:extLst>
          </p:cNvPr>
          <p:cNvSpPr>
            <a:spLocks noGrp="1"/>
          </p:cNvSpPr>
          <p:nvPr/>
        </p:nvSpPr>
        <p:spPr>
          <a:xfrm>
            <a:off x="6572250" y="2819400"/>
            <a:ext cx="1123950" cy="685800"/>
          </a:xfrm>
          <a:prstGeom prst="rect">
            <a:avLst/>
          </a:prstGeom>
          <a:solidFill>
            <a:srgbClr val="07111F"/>
          </a:solidFill>
          <a:ln w="14288">
            <a:solidFill>
              <a:srgbClr val="FACC1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186282-A02A-4AA7-BCC1-5663192F9039}"/>
              </a:ext>
            </a:extLst>
          </p:cNvPr>
          <p:cNvSpPr>
            <a:spLocks noGrp="1"/>
          </p:cNvSpPr>
          <p:nvPr/>
        </p:nvSpPr>
        <p:spPr>
          <a:xfrm>
            <a:off x="6686550" y="29146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D1352C-5769-45C6-A7EB-89488901FB46}"/>
              </a:ext>
            </a:extLst>
          </p:cNvPr>
          <p:cNvSpPr>
            <a:spLocks noGrp="1"/>
          </p:cNvSpPr>
          <p:nvPr/>
        </p:nvSpPr>
        <p:spPr>
          <a:xfrm>
            <a:off x="6667500" y="3143250"/>
            <a:ext cx="9334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6FF012-B742-4AF4-B9DA-FECB6DFA8F0D}"/>
              </a:ext>
            </a:extLst>
          </p:cNvPr>
          <p:cNvSpPr>
            <a:spLocks noGrp="1"/>
          </p:cNvSpPr>
          <p:nvPr/>
        </p:nvSpPr>
        <p:spPr>
          <a:xfrm>
            <a:off x="6686550" y="32289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Roll 103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5EEB34-7630-48D7-84B6-54AD63B2CA74}"/>
              </a:ext>
            </a:extLst>
          </p:cNvPr>
          <p:cNvSpPr>
            <a:spLocks noGrp="1"/>
          </p:cNvSpPr>
          <p:nvPr/>
        </p:nvSpPr>
        <p:spPr>
          <a:xfrm>
            <a:off x="7753350" y="3152775"/>
            <a:ext cx="704850" cy="19050"/>
          </a:xfrm>
          <a:prstGeom prst="rect">
            <a:avLst/>
          </a:prstGeom>
          <a:solidFill>
            <a:srgbClr val="FACC15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CEEF0DA2-256B-4225-A37A-C8AC5AE58836}"/>
              </a:ext>
            </a:extLst>
          </p:cNvPr>
          <p:cNvSpPr>
            <a:spLocks noGrp="1"/>
          </p:cNvSpPr>
          <p:nvPr/>
        </p:nvSpPr>
        <p:spPr>
          <a:xfrm>
            <a:off x="8439150" y="3095625"/>
            <a:ext cx="152400" cy="133350"/>
          </a:xfrm>
          <a:prstGeom prst="triangle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63EC0A-126D-4E4F-9BD6-534AF6E3FF21}"/>
              </a:ext>
            </a:extLst>
          </p:cNvPr>
          <p:cNvSpPr>
            <a:spLocks noGrp="1"/>
          </p:cNvSpPr>
          <p:nvPr/>
        </p:nvSpPr>
        <p:spPr>
          <a:xfrm>
            <a:off x="8705850" y="30289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43F2CB4-EEBB-4E5F-957F-21DA71834417}"/>
              </a:ext>
            </a:extLst>
          </p:cNvPr>
          <p:cNvSpPr>
            <a:spLocks noGrp="1"/>
          </p:cNvSpPr>
          <p:nvPr/>
        </p:nvSpPr>
        <p:spPr>
          <a:xfrm>
            <a:off x="1466850" y="4362450"/>
            <a:ext cx="8572500" cy="876300"/>
          </a:xfrm>
          <a:prstGeom prst="rect">
            <a:avLst/>
          </a:prstGeom>
          <a:solidFill>
            <a:srgbClr val="07111F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C25469-D0B1-4F00-813B-914B275D9FDF}"/>
              </a:ext>
            </a:extLst>
          </p:cNvPr>
          <p:cNvSpPr>
            <a:spLocks noGrp="1"/>
          </p:cNvSpPr>
          <p:nvPr/>
        </p:nvSpPr>
        <p:spPr>
          <a:xfrm>
            <a:off x="1771650" y="4572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Node fields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22B8530-DA94-487D-B740-4AD2F9F26A4D}"/>
              </a:ext>
            </a:extLst>
          </p:cNvPr>
          <p:cNvSpPr>
            <a:spLocks noGrp="1"/>
          </p:cNvSpPr>
          <p:nvPr/>
        </p:nvSpPr>
        <p:spPr>
          <a:xfrm>
            <a:off x="3448050" y="4600575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Roll No | Name | Physics | Chemistry | Maths | Total | Percentage | Next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2A06EF-A8D1-494A-971D-8F6380420E3C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0E69E2-A161-4589-89F4-9AC38DA8E131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428DA5-88A6-426C-BF43-F658E3149A55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001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B172A134-51F5-487C-9E48-A903B70D3C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3AAB2570-A0B6-4E7E-8E7E-0B3F5369E0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DDE65-448B-4942-8E18-C7EF72C5C3A8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A4EA45-CF34-415D-B3C6-9FF9D14A9341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DE26A-285C-4808-ADBA-22B195BD92C6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5170B1-CF85-4107-9E71-930331CBB2C7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E5E749-D8CD-4D1B-8DD8-DD77D77AD62B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7818C4-0368-42AC-A5EB-7D33D290E21E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35B643-5F02-4ABB-8520-3B4FFC8CD54C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E191A9-8C61-40E4-AAF8-CAFD550198CB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67AF7C-E188-40F1-9B2D-92328641B11F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EA37EB-9036-4F32-8EF0-8B7DCCCBE0CD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89ECCF-CBC0-420D-A5F4-53108012413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3E703A-1C90-4F30-8B61-04B56D69A1DE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6B6395-DB38-4220-A1C8-411C485744D7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0FF477FC-1388-4084-935B-44A5728B3FD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BF20D7-A9C8-41E4-82BC-E26D7B856937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8C9432D0-E768-4ACF-AF2D-C99390D9331C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A06E1D-94FE-4382-9F57-0AF74FD96392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menu-driven system covers the full student-record lifecycle.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E553E1-4DD7-4A07-B1D9-5A8542A1B005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Operations are grouped as create, read, modify, analyze, and classify.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AA049B-3902-4A0D-8BD4-F68C1C4B3CC0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2724150" cy="723900"/>
          </a:xfrm>
          <a:prstGeom prst="rect">
            <a:avLst/>
          </a:prstGeom>
          <a:solidFill>
            <a:srgbClr val="07111F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FCA802-74B4-4DA8-B0EB-B29FE288D031}"/>
              </a:ext>
            </a:extLst>
          </p:cNvPr>
          <p:cNvSpPr>
            <a:spLocks noGrp="1"/>
          </p:cNvSpPr>
          <p:nvPr/>
        </p:nvSpPr>
        <p:spPr>
          <a:xfrm>
            <a:off x="1562100" y="2381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9F426D-E133-4EAC-AE72-8D796F7FA05B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2724150" cy="723900"/>
          </a:xfrm>
          <a:prstGeom prst="rect">
            <a:avLst/>
          </a:prstGeom>
          <a:solidFill>
            <a:srgbClr val="0F172A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B96950-E861-4CCE-A339-565A39F142F5}"/>
              </a:ext>
            </a:extLst>
          </p:cNvPr>
          <p:cNvSpPr>
            <a:spLocks noGrp="1"/>
          </p:cNvSpPr>
          <p:nvPr/>
        </p:nvSpPr>
        <p:spPr>
          <a:xfrm>
            <a:off x="4953000" y="2381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AC1C30-3A7A-4B81-A1F9-9AC2BBAC9532}"/>
              </a:ext>
            </a:extLst>
          </p:cNvPr>
          <p:cNvSpPr>
            <a:spLocks noGrp="1"/>
          </p:cNvSpPr>
          <p:nvPr/>
        </p:nvSpPr>
        <p:spPr>
          <a:xfrm>
            <a:off x="7658100" y="2143125"/>
            <a:ext cx="2724150" cy="723900"/>
          </a:xfrm>
          <a:prstGeom prst="rect">
            <a:avLst/>
          </a:prstGeom>
          <a:solidFill>
            <a:srgbClr val="07111F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90A958-EBE8-4A77-904C-D68AC8DB497C}"/>
              </a:ext>
            </a:extLst>
          </p:cNvPr>
          <p:cNvSpPr>
            <a:spLocks noGrp="1"/>
          </p:cNvSpPr>
          <p:nvPr/>
        </p:nvSpPr>
        <p:spPr>
          <a:xfrm>
            <a:off x="8343900" y="2381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F5E69-37E7-4460-8369-42D4F09F931B}"/>
              </a:ext>
            </a:extLst>
          </p:cNvPr>
          <p:cNvSpPr>
            <a:spLocks noGrp="1"/>
          </p:cNvSpPr>
          <p:nvPr/>
        </p:nvSpPr>
        <p:spPr>
          <a:xfrm>
            <a:off x="876300" y="3209925"/>
            <a:ext cx="2724150" cy="723900"/>
          </a:xfrm>
          <a:prstGeom prst="rect">
            <a:avLst/>
          </a:prstGeom>
          <a:solidFill>
            <a:srgbClr val="0F172A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C1695D-7F28-49FD-96E6-45D94AC71085}"/>
              </a:ext>
            </a:extLst>
          </p:cNvPr>
          <p:cNvSpPr>
            <a:spLocks noGrp="1"/>
          </p:cNvSpPr>
          <p:nvPr/>
        </p:nvSpPr>
        <p:spPr>
          <a:xfrm>
            <a:off x="1562100" y="3448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1AE1AD-B1F4-4640-9F3B-21530864E636}"/>
              </a:ext>
            </a:extLst>
          </p:cNvPr>
          <p:cNvSpPr>
            <a:spLocks noGrp="1"/>
          </p:cNvSpPr>
          <p:nvPr/>
        </p:nvSpPr>
        <p:spPr>
          <a:xfrm>
            <a:off x="4267200" y="3209925"/>
            <a:ext cx="2724150" cy="723900"/>
          </a:xfrm>
          <a:prstGeom prst="rect">
            <a:avLst/>
          </a:prstGeom>
          <a:solidFill>
            <a:srgbClr val="07111F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74A8E7-9DC5-4EB2-812F-4D9E2F7967FE}"/>
              </a:ext>
            </a:extLst>
          </p:cNvPr>
          <p:cNvSpPr>
            <a:spLocks noGrp="1"/>
          </p:cNvSpPr>
          <p:nvPr/>
        </p:nvSpPr>
        <p:spPr>
          <a:xfrm>
            <a:off x="4953000" y="3448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FB38A7-9C0F-49D4-8C9C-756E8658B44A}"/>
              </a:ext>
            </a:extLst>
          </p:cNvPr>
          <p:cNvSpPr>
            <a:spLocks noGrp="1"/>
          </p:cNvSpPr>
          <p:nvPr/>
        </p:nvSpPr>
        <p:spPr>
          <a:xfrm>
            <a:off x="7658100" y="3209925"/>
            <a:ext cx="2724150" cy="723900"/>
          </a:xfrm>
          <a:prstGeom prst="rect">
            <a:avLst/>
          </a:prstGeom>
          <a:solidFill>
            <a:srgbClr val="0F172A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4A167E-7D5E-4EFD-8226-17C3A7BD864C}"/>
              </a:ext>
            </a:extLst>
          </p:cNvPr>
          <p:cNvSpPr>
            <a:spLocks noGrp="1"/>
          </p:cNvSpPr>
          <p:nvPr/>
        </p:nvSpPr>
        <p:spPr>
          <a:xfrm>
            <a:off x="8343900" y="3448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EB410F-B7C4-4F4C-AF0D-BFEC3F4CF051}"/>
              </a:ext>
            </a:extLst>
          </p:cNvPr>
          <p:cNvSpPr>
            <a:spLocks noGrp="1"/>
          </p:cNvSpPr>
          <p:nvPr/>
        </p:nvSpPr>
        <p:spPr>
          <a:xfrm>
            <a:off x="876300" y="4276725"/>
            <a:ext cx="2724150" cy="723900"/>
          </a:xfrm>
          <a:prstGeom prst="rect">
            <a:avLst/>
          </a:prstGeom>
          <a:solidFill>
            <a:srgbClr val="07111F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8292FE-0876-4019-80F6-B65DC7AD78BF}"/>
              </a:ext>
            </a:extLst>
          </p:cNvPr>
          <p:cNvSpPr>
            <a:spLocks noGrp="1"/>
          </p:cNvSpPr>
          <p:nvPr/>
        </p:nvSpPr>
        <p:spPr>
          <a:xfrm>
            <a:off x="1562100" y="4514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Highest 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A6434B-0312-4B4B-95D5-FF97BAE9E180}"/>
              </a:ext>
            </a:extLst>
          </p:cNvPr>
          <p:cNvSpPr>
            <a:spLocks noGrp="1"/>
          </p:cNvSpPr>
          <p:nvPr/>
        </p:nvSpPr>
        <p:spPr>
          <a:xfrm>
            <a:off x="4267200" y="4276725"/>
            <a:ext cx="2724150" cy="723900"/>
          </a:xfrm>
          <a:prstGeom prst="rect">
            <a:avLst/>
          </a:prstGeom>
          <a:solidFill>
            <a:srgbClr val="0F172A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A3EAEF-2880-4C64-A9D4-0D1292573A2F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Above 75%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6E3D49-34A0-46E4-B91B-799A79006A59}"/>
              </a:ext>
            </a:extLst>
          </p:cNvPr>
          <p:cNvSpPr>
            <a:spLocks noGrp="1"/>
          </p:cNvSpPr>
          <p:nvPr/>
        </p:nvSpPr>
        <p:spPr>
          <a:xfrm>
            <a:off x="7658100" y="4276725"/>
            <a:ext cx="2724150" cy="723900"/>
          </a:xfrm>
          <a:prstGeom prst="rect">
            <a:avLst/>
          </a:prstGeom>
          <a:solidFill>
            <a:srgbClr val="07111F"/>
          </a:solidFill>
          <a:ln w="9525">
            <a:solidFill>
              <a:srgbClr val="164E63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85A83C-95F4-4FF4-A45F-C23B140C067B}"/>
              </a:ext>
            </a:extLst>
          </p:cNvPr>
          <p:cNvSpPr>
            <a:spLocks noGrp="1"/>
          </p:cNvSpPr>
          <p:nvPr/>
        </p:nvSpPr>
        <p:spPr>
          <a:xfrm>
            <a:off x="8343900" y="4514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Pass/Fail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6EDC38-35DC-4696-8677-DB115E360B83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505950" cy="400050"/>
          </a:xfrm>
          <a:prstGeom prst="rect">
            <a:avLst/>
          </a:prstGeom>
          <a:solidFill>
            <a:srgbClr val="0C1B2B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BB544E-2201-4E34-AC36-6D7BF154C8F7}"/>
              </a:ext>
            </a:extLst>
          </p:cNvPr>
          <p:cNvSpPr>
            <a:spLocks noGrp="1"/>
          </p:cNvSpPr>
          <p:nvPr/>
        </p:nvSpPr>
        <p:spPr>
          <a:xfrm>
            <a:off x="1123950" y="5743575"/>
            <a:ext cx="895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CRUD + analytics makes the project more complete than a basic linked-list demonstration.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E2C6BE-C61D-4105-A692-0D123628705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A16D09-06D3-40E5-85CA-6F4A8F7FEAD7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6EE12D-AC3E-48FC-9AFF-1C27AEB6132F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44" name="Graphic 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5850" y="2333625"/>
            <a:ext cx="304800" cy="304800"/>
          </a:xfrm>
          <a:prstGeom prst="rect">
            <a:avLst/>
          </a:prstGeom>
        </p:spPr>
      </p:pic>
      <p:pic>
        <p:nvPicPr>
          <p:cNvPr id="45" name="Graphic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76750" y="2333625"/>
            <a:ext cx="304800" cy="304800"/>
          </a:xfrm>
          <a:prstGeom prst="rect">
            <a:avLst/>
          </a:prstGeom>
        </p:spPr>
      </p:pic>
      <p:pic>
        <p:nvPicPr>
          <p:cNvPr id="46" name="Graphic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867650" y="2333625"/>
            <a:ext cx="304800" cy="304800"/>
          </a:xfrm>
          <a:prstGeom prst="rect">
            <a:avLst/>
          </a:prstGeom>
        </p:spPr>
      </p:pic>
      <p:pic>
        <p:nvPicPr>
          <p:cNvPr id="47" name="Graphic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85850" y="3400425"/>
            <a:ext cx="304800" cy="304800"/>
          </a:xfrm>
          <a:prstGeom prst="rect">
            <a:avLst/>
          </a:prstGeom>
        </p:spPr>
      </p:pic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476750" y="3400425"/>
            <a:ext cx="304800" cy="304800"/>
          </a:xfrm>
          <a:prstGeom prst="rect">
            <a:avLst/>
          </a:prstGeom>
        </p:spPr>
      </p:pic>
      <p:pic>
        <p:nvPicPr>
          <p:cNvPr id="49" name="Graphic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867650" y="3400425"/>
            <a:ext cx="304800" cy="304800"/>
          </a:xfrm>
          <a:prstGeom prst="rect">
            <a:avLst/>
          </a:prstGeom>
        </p:spPr>
      </p:pic>
      <p:pic>
        <p:nvPicPr>
          <p:cNvPr id="50" name="Graphic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85850" y="4467225"/>
            <a:ext cx="304800" cy="304800"/>
          </a:xfrm>
          <a:prstGeom prst="rect">
            <a:avLst/>
          </a:prstGeom>
        </p:spPr>
      </p:pic>
      <p:pic>
        <p:nvPicPr>
          <p:cNvPr id="51" name="Graphic 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476750" y="4467225"/>
            <a:ext cx="304800" cy="304800"/>
          </a:xfrm>
          <a:prstGeom prst="rect">
            <a:avLst/>
          </a:prstGeom>
        </p:spPr>
      </p:pic>
      <p:pic>
        <p:nvPicPr>
          <p:cNvPr id="52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867650" y="44672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5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99F1B99-0038-4698-AB14-6DF35EE515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68CA0294-04C1-4D1C-A9BF-F6C08B0555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9E93E6-ACAE-4475-BEDC-E51BF4FC67F2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88830C-5803-4181-B1A4-090A7C823526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3DE92-1856-4081-BBA1-CAA538FA60E2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E6DAB-5546-4898-93EB-CCC2580B5B2A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BE3DF-5DE4-4BEF-A7F2-7EA6382E8BCD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137106-92AE-4509-8820-54CC12794B56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E4648A-A507-4F45-9715-7F3BB88E9A5D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F5B55-7A06-46B9-AE0F-E2F05AB4225C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346D76-5406-4A49-A5B9-83EE1529589D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497A1D-F0CC-48D2-8E20-2AD00ED5B948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8C1E75-6AC6-48E2-B455-31E080B62C2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7E5562-8D2F-40D5-8A64-91A4872EBBCA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48CA85-19FD-4FB4-B14F-55E5E55EA471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2104A1AD-8940-4F03-8FDE-B428DB49964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0</a:t>
            </a:r>
            <a:r>
              <a:rPr lang="en-IN"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8</a:t>
            </a:r>
          </a:p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endParaRPr sz="825" b="1" dirty="0">
              <a:solidFill>
                <a:srgbClr val="22D3E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951A3E-7653-4F04-B991-62A9D2178EE4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ED6FEA3B-1392-417D-A2EE-4A45F5600737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SAMPLE 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B6A1B0-E471-45D9-B9F5-A6478662599E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Console output proves the linked list operations are working.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E1A180-9CA1-4268-A4E7-D33BDB5A5312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screenshots from your terminal here during final viva preparation.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0E3D82-09FF-4AEA-B9F0-BAC1888A95F3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6000750" cy="3333750"/>
          </a:xfrm>
          <a:prstGeom prst="rect">
            <a:avLst/>
          </a:prstGeom>
          <a:solidFill>
            <a:srgbClr val="020617"/>
          </a:solidFill>
          <a:ln w="11430">
            <a:solidFill>
              <a:srgbClr val="164E6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EE04D9-443B-4989-8AF0-EA65F524EB40}"/>
              </a:ext>
            </a:extLst>
          </p:cNvPr>
          <p:cNvSpPr>
            <a:spLocks noGrp="1"/>
          </p:cNvSpPr>
          <p:nvPr/>
        </p:nvSpPr>
        <p:spPr>
          <a:xfrm>
            <a:off x="1181100" y="2400300"/>
            <a:ext cx="5334000" cy="2571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$ ./student_management</a:t>
            </a:r>
          </a:p>
          <a:p>
            <a:endParaRPr sz="1350" b="0">
              <a:solidFill>
                <a:srgbClr val="86EFAC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1. Insert Student</a:t>
            </a: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2. Display Records</a:t>
            </a: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3. Search Student</a:t>
            </a: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4. Delete Record</a:t>
            </a:r>
          </a:p>
          <a:p>
            <a:endParaRPr sz="1350" b="0">
              <a:solidFill>
                <a:srgbClr val="86EFAC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Roll No: 101</a:t>
            </a: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Name: Hitesh Kukreja</a:t>
            </a: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Total: 215 / 240</a:t>
            </a: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Percentage: 89.58%</a:t>
            </a:r>
          </a:p>
          <a:p>
            <a:pPr algn="l">
              <a:def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86EFAC"/>
                </a:solidFill>
                <a:latin typeface="Aptos Mono"/>
                <a:ea typeface="Aptos Mono"/>
                <a:cs typeface="Aptos Mono"/>
              </a:rPr>
              <a:t>Result: PASS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234774-D27D-46AE-A049-DA93F645266B}"/>
              </a:ext>
            </a:extLst>
          </p:cNvPr>
          <p:cNvSpPr>
            <a:spLocks noGrp="1"/>
          </p:cNvSpPr>
          <p:nvPr/>
        </p:nvSpPr>
        <p:spPr>
          <a:xfrm>
            <a:off x="7429500" y="2428875"/>
            <a:ext cx="3333750" cy="361950"/>
          </a:xfrm>
          <a:prstGeom prst="rect">
            <a:avLst/>
          </a:prstGeom>
          <a:solidFill>
            <a:srgbClr val="07111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DC5327-D875-4E61-AC42-00F6945F82EF}"/>
              </a:ext>
            </a:extLst>
          </p:cNvPr>
          <p:cNvSpPr>
            <a:spLocks noGrp="1"/>
          </p:cNvSpPr>
          <p:nvPr/>
        </p:nvSpPr>
        <p:spPr>
          <a:xfrm>
            <a:off x="7658100" y="252412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Student insertion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E89718-27E8-4490-AFB3-92AF9B360AFC}"/>
              </a:ext>
            </a:extLst>
          </p:cNvPr>
          <p:cNvSpPr>
            <a:spLocks noGrp="1"/>
          </p:cNvSpPr>
          <p:nvPr/>
        </p:nvSpPr>
        <p:spPr>
          <a:xfrm>
            <a:off x="7429500" y="2895600"/>
            <a:ext cx="3333750" cy="3619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B0B6C1-BBC9-49E3-89CD-EC13B85AE619}"/>
              </a:ext>
            </a:extLst>
          </p:cNvPr>
          <p:cNvSpPr>
            <a:spLocks noGrp="1"/>
          </p:cNvSpPr>
          <p:nvPr/>
        </p:nvSpPr>
        <p:spPr>
          <a:xfrm>
            <a:off x="7658100" y="29908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Display records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036EDB-1EA3-4CB8-A269-A6003E8A1F1D}"/>
              </a:ext>
            </a:extLst>
          </p:cNvPr>
          <p:cNvSpPr>
            <a:spLocks noGrp="1"/>
          </p:cNvSpPr>
          <p:nvPr/>
        </p:nvSpPr>
        <p:spPr>
          <a:xfrm>
            <a:off x="7429500" y="3362325"/>
            <a:ext cx="3333750" cy="361950"/>
          </a:xfrm>
          <a:prstGeom prst="rect">
            <a:avLst/>
          </a:prstGeom>
          <a:solidFill>
            <a:srgbClr val="07111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F9CDD0-F672-472B-920E-B38E94994579}"/>
              </a:ext>
            </a:extLst>
          </p:cNvPr>
          <p:cNvSpPr>
            <a:spLocks noGrp="1"/>
          </p:cNvSpPr>
          <p:nvPr/>
        </p:nvSpPr>
        <p:spPr>
          <a:xfrm>
            <a:off x="7658100" y="345757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Search by roll number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4154AB-AB04-48E1-A27C-FDF70FD3A33D}"/>
              </a:ext>
            </a:extLst>
          </p:cNvPr>
          <p:cNvSpPr>
            <a:spLocks noGrp="1"/>
          </p:cNvSpPr>
          <p:nvPr/>
        </p:nvSpPr>
        <p:spPr>
          <a:xfrm>
            <a:off x="7429500" y="3829050"/>
            <a:ext cx="3333750" cy="3619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4A2DB3-1CCB-4099-A61B-4FCBE92A6CCC}"/>
              </a:ext>
            </a:extLst>
          </p:cNvPr>
          <p:cNvSpPr>
            <a:spLocks noGrp="1"/>
          </p:cNvSpPr>
          <p:nvPr/>
        </p:nvSpPr>
        <p:spPr>
          <a:xfrm>
            <a:off x="7658100" y="39243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Delete operation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0F5590-B39C-458E-BE2D-2D6B597E180A}"/>
              </a:ext>
            </a:extLst>
          </p:cNvPr>
          <p:cNvSpPr>
            <a:spLocks noGrp="1"/>
          </p:cNvSpPr>
          <p:nvPr/>
        </p:nvSpPr>
        <p:spPr>
          <a:xfrm>
            <a:off x="7429500" y="4295775"/>
            <a:ext cx="3333750" cy="361950"/>
          </a:xfrm>
          <a:prstGeom prst="rect">
            <a:avLst/>
          </a:prstGeom>
          <a:solidFill>
            <a:srgbClr val="07111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A1C960-A10A-4F50-B9E8-8499ADDA72C4}"/>
              </a:ext>
            </a:extLst>
          </p:cNvPr>
          <p:cNvSpPr>
            <a:spLocks noGrp="1"/>
          </p:cNvSpPr>
          <p:nvPr/>
        </p:nvSpPr>
        <p:spPr>
          <a:xfrm>
            <a:off x="7658100" y="4391025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Highest percentage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2DF2C5-E12A-4997-95F6-41E903B9443C}"/>
              </a:ext>
            </a:extLst>
          </p:cNvPr>
          <p:cNvSpPr>
            <a:spLocks noGrp="1"/>
          </p:cNvSpPr>
          <p:nvPr/>
        </p:nvSpPr>
        <p:spPr>
          <a:xfrm>
            <a:off x="7429500" y="4762500"/>
            <a:ext cx="3333750" cy="3619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B7ED75-4BDA-483C-8A18-5713BAB199BE}"/>
              </a:ext>
            </a:extLst>
          </p:cNvPr>
          <p:cNvSpPr>
            <a:spLocks noGrp="1"/>
          </p:cNvSpPr>
          <p:nvPr/>
        </p:nvSpPr>
        <p:spPr>
          <a:xfrm>
            <a:off x="7658100" y="48577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Pass / fail list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3B3A9B-91B7-47CE-B9F6-2C32C9EE2882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5E86EC-4E16-4F99-91AD-3537179982FD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9D0379-3BB8-4D50-82C5-C458C802C2E2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1848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E72B7F62-72F6-4D77-9729-CF25E9B77A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27B23AE2-EFCE-4500-84ED-EE274D9378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3C4D2A-ED0D-408D-8945-5B74DAD9AC43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34A68A-8F31-4696-A83B-48318531BDBF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77D00-3EFC-4D61-A5D3-8C00BD274BFB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DDBCBA-2604-4ED8-8ABC-9D089107C94C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C1DB47-041D-4E41-A8C9-F01947B28739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80F316-ABB4-4CFB-B2B4-ED1819F0F40C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0347D2-E3A6-4368-A78D-7A5691F4991D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008B1A-AFF3-4A4D-B28B-274C02FC048D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B4EEFB-B9EF-4D13-B78E-5D5B9CC11B7E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A2A086-5F29-4F1C-B9F1-EC8712CC7A0C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0289C3-BFC3-498D-8083-ECF0E6395A7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491EF47-A174-49C9-AD71-480E7C8EC45E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2CF75-0119-4236-AC9A-D548B47D35F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572A5DDF-0C7F-4108-9BDD-4A158EF5B4BB}"/>
              </a:ext>
            </a:extLst>
          </p:cNvPr>
          <p:cNvSpPr>
            <a:spLocks noGrp="1"/>
          </p:cNvSpPr>
          <p:nvPr/>
        </p:nvSpPr>
        <p:spPr>
          <a:xfrm>
            <a:off x="562282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lang="en-IN"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09</a:t>
            </a:r>
            <a:endParaRPr sz="825" b="1" dirty="0">
              <a:solidFill>
                <a:srgbClr val="22D3E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002199-63A7-4323-A720-7666834E1ADE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B4B02418-BE23-47AC-BF7D-C2E6376E7248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3EA40E-7D65-4C0A-886E-6B34329A027D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Linked lists improve flexibility for record management.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7271F-442C-47A2-8641-6277D25A3216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benefits are strongest when data size changes during runtime.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A4F8C9-3C6E-4F42-AC97-E7E58258CBFA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2286000" cy="18097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6C49B-971F-432B-951B-EE205B540D1E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228600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E9BA63-E5BD-478D-9CA2-8D1E51EC015F}"/>
              </a:ext>
            </a:extLst>
          </p:cNvPr>
          <p:cNvSpPr>
            <a:spLocks noGrp="1"/>
          </p:cNvSpPr>
          <p:nvPr/>
        </p:nvSpPr>
        <p:spPr>
          <a:xfrm>
            <a:off x="1162050" y="2857500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Dynamic memory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90C99E-1DE3-4824-99B6-50D872279AB7}"/>
              </a:ext>
            </a:extLst>
          </p:cNvPr>
          <p:cNvSpPr>
            <a:spLocks noGrp="1"/>
          </p:cNvSpPr>
          <p:nvPr/>
        </p:nvSpPr>
        <p:spPr>
          <a:xfrm>
            <a:off x="1162050" y="3162300"/>
            <a:ext cx="18669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Records are created only when required, so fixed array limits are avoided.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A3F7BE-1257-42C7-BE2B-5A2500D8B298}"/>
              </a:ext>
            </a:extLst>
          </p:cNvPr>
          <p:cNvSpPr>
            <a:spLocks noGrp="1"/>
          </p:cNvSpPr>
          <p:nvPr/>
        </p:nvSpPr>
        <p:spPr>
          <a:xfrm>
            <a:off x="3714750" y="2305050"/>
            <a:ext cx="2286000" cy="18097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32169A-6D9A-43E7-AEE1-8F08DF51BF5D}"/>
              </a:ext>
            </a:extLst>
          </p:cNvPr>
          <p:cNvSpPr>
            <a:spLocks noGrp="1"/>
          </p:cNvSpPr>
          <p:nvPr/>
        </p:nvSpPr>
        <p:spPr>
          <a:xfrm>
            <a:off x="3714750" y="2305050"/>
            <a:ext cx="2286000" cy="28575"/>
          </a:xfrm>
          <a:prstGeom prst="rect">
            <a:avLst/>
          </a:prstGeom>
          <a:solidFill>
            <a:srgbClr val="FACC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07966-A07E-482D-84EA-F96333217185}"/>
              </a:ext>
            </a:extLst>
          </p:cNvPr>
          <p:cNvSpPr>
            <a:spLocks noGrp="1"/>
          </p:cNvSpPr>
          <p:nvPr/>
        </p:nvSpPr>
        <p:spPr>
          <a:xfrm>
            <a:off x="3924300" y="2857500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Efficient changes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3B812-BBDD-430D-8D69-4A1134C1FBB9}"/>
              </a:ext>
            </a:extLst>
          </p:cNvPr>
          <p:cNvSpPr>
            <a:spLocks noGrp="1"/>
          </p:cNvSpPr>
          <p:nvPr/>
        </p:nvSpPr>
        <p:spPr>
          <a:xfrm>
            <a:off x="3924300" y="3162300"/>
            <a:ext cx="18669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Insertion and deletion update links instead of shifting many records.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0A7FFA-966E-4C7C-AEBC-E291917B7871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2286000" cy="18097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CF6424-B060-488C-B6E2-713D76D5D98D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2286000" cy="28575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BA120D-6D8A-4691-8019-AF1E770E6792}"/>
              </a:ext>
            </a:extLst>
          </p:cNvPr>
          <p:cNvSpPr>
            <a:spLocks noGrp="1"/>
          </p:cNvSpPr>
          <p:nvPr/>
        </p:nvSpPr>
        <p:spPr>
          <a:xfrm>
            <a:off x="6686550" y="2857500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Organized records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AAA854-1DC1-4465-A52D-FC4DAB623E0E}"/>
              </a:ext>
            </a:extLst>
          </p:cNvPr>
          <p:cNvSpPr>
            <a:spLocks noGrp="1"/>
          </p:cNvSpPr>
          <p:nvPr/>
        </p:nvSpPr>
        <p:spPr>
          <a:xfrm>
            <a:off x="6686550" y="3162300"/>
            <a:ext cx="18669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Student data stays grouped in structured nodes.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571F69-6BA3-4B1D-8E7C-2B6C22969A98}"/>
              </a:ext>
            </a:extLst>
          </p:cNvPr>
          <p:cNvSpPr>
            <a:spLocks noGrp="1"/>
          </p:cNvSpPr>
          <p:nvPr/>
        </p:nvSpPr>
        <p:spPr>
          <a:xfrm>
            <a:off x="9239250" y="2305050"/>
            <a:ext cx="2095500" cy="1809750"/>
          </a:xfrm>
          <a:prstGeom prst="rect">
            <a:avLst/>
          </a:prstGeom>
          <a:solidFill>
            <a:srgbClr val="0F172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584946-13A5-4CCF-AFDD-38EC02736DCE}"/>
              </a:ext>
            </a:extLst>
          </p:cNvPr>
          <p:cNvSpPr>
            <a:spLocks noGrp="1"/>
          </p:cNvSpPr>
          <p:nvPr/>
        </p:nvSpPr>
        <p:spPr>
          <a:xfrm>
            <a:off x="9239250" y="2305050"/>
            <a:ext cx="2095500" cy="28575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03AFA2-309F-42AF-A6BC-98118A7E8F17}"/>
              </a:ext>
            </a:extLst>
          </p:cNvPr>
          <p:cNvSpPr>
            <a:spLocks noGrp="1"/>
          </p:cNvSpPr>
          <p:nvPr/>
        </p:nvSpPr>
        <p:spPr>
          <a:xfrm>
            <a:off x="9448800" y="28575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Better learning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4DD528-5794-48D9-B1D8-04B134E01147}"/>
              </a:ext>
            </a:extLst>
          </p:cNvPr>
          <p:cNvSpPr>
            <a:spLocks noGrp="1"/>
          </p:cNvSpPr>
          <p:nvPr/>
        </p:nvSpPr>
        <p:spPr>
          <a:xfrm>
            <a:off x="9448800" y="3162300"/>
            <a:ext cx="1676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0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project makes pointer logic practical and visible.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5897FE-024B-4B26-B721-D1D380475DB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091D1E-99BF-4304-BCD5-CE58419AB4DD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93C78DF-9D3B-4E83-A62F-D4662BCAA242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40" name="Graphic 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62050" y="2514600"/>
            <a:ext cx="285750" cy="285750"/>
          </a:xfrm>
          <a:prstGeom prst="rect">
            <a:avLst/>
          </a:prstGeom>
        </p:spPr>
      </p:pic>
      <p:pic>
        <p:nvPicPr>
          <p:cNvPr id="41" name="Graphic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924300" y="2514600"/>
            <a:ext cx="285750" cy="285750"/>
          </a:xfrm>
          <a:prstGeom prst="rect">
            <a:avLst/>
          </a:prstGeom>
        </p:spPr>
      </p:pic>
      <p:pic>
        <p:nvPicPr>
          <p:cNvPr id="42" name="Graphic 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86550" y="2514600"/>
            <a:ext cx="285750" cy="285750"/>
          </a:xfrm>
          <a:prstGeom prst="rect">
            <a:avLst/>
          </a:prstGeom>
        </p:spPr>
      </p:pic>
      <p:pic>
        <p:nvPicPr>
          <p:cNvPr id="43" name="Graphic 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448800" y="2514600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59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BD02468-4DBA-4429-831B-6D2D51CB89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3D0CD83F-EFD7-4238-9EA1-6BFF5BA292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9C0D60-71DA-4F34-82CE-DC6479B05203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6E3F3-ACD0-4D42-AF20-D9B0D42DCC50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55C2E7-D551-487A-854A-2F076E07EA3D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41B1A9-444E-4013-B1A0-4070CBE476F0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5DE50E-0A2C-40A1-B60C-04437CC3F263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711EDB-9477-4345-B40C-CE2B46F7C0C8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A22945-572C-4125-8F46-391AEB4B5B0D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C05954-A49C-46BE-93BC-F329E94C3536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15CB67-2F61-48BA-A80A-753A4F24D289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7D6F7-4AA1-4841-BCE9-71666DAC6790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E8CCA8-FD42-462F-A490-81264C05406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FCA596A-7E0E-4718-93C8-277B7C9A577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9F4917-4E73-4F7B-A033-580190D9C95F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581F4CFE-6F3A-46D8-B5F9-D837385AB85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1</a:t>
            </a:r>
            <a:r>
              <a:rPr lang="en-IN"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0</a:t>
            </a:r>
            <a:endParaRPr sz="825" b="1" dirty="0">
              <a:solidFill>
                <a:srgbClr val="22D3E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E73C1B-07A2-47BA-B716-C91D7E805687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09B98CF6-6165-4668-ADD2-2FE801D594A9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76247C-4DD2-4A57-8DDE-8DE0DBAF9C56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current version is strong for learning but limited for production use.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CF827-00C9-4174-AFD0-B325F8A96948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These limitations also create a clear path for future improvement.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00C29F-CAB5-4806-820C-6426554D7FCB}"/>
              </a:ext>
            </a:extLst>
          </p:cNvPr>
          <p:cNvSpPr>
            <a:spLocks noGrp="1"/>
          </p:cNvSpPr>
          <p:nvPr/>
        </p:nvSpPr>
        <p:spPr>
          <a:xfrm>
            <a:off x="1676400" y="26289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 permanent storage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090353-0D6E-48BF-B42D-CEB5B5F66682}"/>
              </a:ext>
            </a:extLst>
          </p:cNvPr>
          <p:cNvSpPr>
            <a:spLocks noGrp="1"/>
          </p:cNvSpPr>
          <p:nvPr/>
        </p:nvSpPr>
        <p:spPr>
          <a:xfrm>
            <a:off x="4400550" y="26574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Records are lost after program exit.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FA8CA2-E08C-42B4-8990-E132813C85FA}"/>
              </a:ext>
            </a:extLst>
          </p:cNvPr>
          <p:cNvSpPr>
            <a:spLocks noGrp="1"/>
          </p:cNvSpPr>
          <p:nvPr/>
        </p:nvSpPr>
        <p:spPr>
          <a:xfrm>
            <a:off x="1676400" y="3048000"/>
            <a:ext cx="781050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0BF7E4-75C2-416C-A77C-CF306AAA7453}"/>
              </a:ext>
            </a:extLst>
          </p:cNvPr>
          <p:cNvSpPr>
            <a:spLocks noGrp="1"/>
          </p:cNvSpPr>
          <p:nvPr/>
        </p:nvSpPr>
        <p:spPr>
          <a:xfrm>
            <a:off x="1676400" y="3314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 graphical interface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EA85B4-1A07-43C8-9FE9-944F96B8816F}"/>
              </a:ext>
            </a:extLst>
          </p:cNvPr>
          <p:cNvSpPr>
            <a:spLocks noGrp="1"/>
          </p:cNvSpPr>
          <p:nvPr/>
        </p:nvSpPr>
        <p:spPr>
          <a:xfrm>
            <a:off x="4400550" y="33432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Interaction is command-line based.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51C93C-199B-4940-B9E2-688FED7F225E}"/>
              </a:ext>
            </a:extLst>
          </p:cNvPr>
          <p:cNvSpPr>
            <a:spLocks noGrp="1"/>
          </p:cNvSpPr>
          <p:nvPr/>
        </p:nvSpPr>
        <p:spPr>
          <a:xfrm>
            <a:off x="1676400" y="3733800"/>
            <a:ext cx="781050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DB7209-B68E-49BF-B2FE-928639EAAE87}"/>
              </a:ext>
            </a:extLst>
          </p:cNvPr>
          <p:cNvSpPr>
            <a:spLocks noGrp="1"/>
          </p:cNvSpPr>
          <p:nvPr/>
        </p:nvSpPr>
        <p:spPr>
          <a:xfrm>
            <a:off x="1676400" y="40005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 database support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957EE4-07B3-47F1-8486-6735B53BE8D1}"/>
              </a:ext>
            </a:extLst>
          </p:cNvPr>
          <p:cNvSpPr>
            <a:spLocks noGrp="1"/>
          </p:cNvSpPr>
          <p:nvPr/>
        </p:nvSpPr>
        <p:spPr>
          <a:xfrm>
            <a:off x="4400550" y="40290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Large-scale querying is not included.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8E6114-6AFE-4FCB-A814-F00EEC04D05D}"/>
              </a:ext>
            </a:extLst>
          </p:cNvPr>
          <p:cNvSpPr>
            <a:spLocks noGrp="1"/>
          </p:cNvSpPr>
          <p:nvPr/>
        </p:nvSpPr>
        <p:spPr>
          <a:xfrm>
            <a:off x="1676400" y="4419600"/>
            <a:ext cx="781050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419A48-5CE2-4777-8D39-634C3F339022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Manual inputs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8917F3-91F6-47BE-816A-2774AA03F4DF}"/>
              </a:ext>
            </a:extLst>
          </p:cNvPr>
          <p:cNvSpPr>
            <a:spLocks noGrp="1"/>
          </p:cNvSpPr>
          <p:nvPr/>
        </p:nvSpPr>
        <p:spPr>
          <a:xfrm>
            <a:off x="4400550" y="47148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Data validation can be improved.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3674CD-C5FF-418F-9724-05990C1A5DDF}"/>
              </a:ext>
            </a:extLst>
          </p:cNvPr>
          <p:cNvSpPr>
            <a:spLocks noGrp="1"/>
          </p:cNvSpPr>
          <p:nvPr/>
        </p:nvSpPr>
        <p:spPr>
          <a:xfrm>
            <a:off x="1676400" y="5105400"/>
            <a:ext cx="781050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DBFE42-08DF-4A2A-A791-C1A616B59D20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59A944-3E03-4548-A9D0-AF06F177CD77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04F020-CF40-452E-827F-0BD732E81547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23950" y="2667000"/>
            <a:ext cx="304800" cy="304800"/>
          </a:xfrm>
          <a:prstGeom prst="rect">
            <a:avLst/>
          </a:prstGeom>
        </p:spPr>
      </p:pic>
      <p:pic>
        <p:nvPicPr>
          <p:cNvPr id="37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23950" y="3352800"/>
            <a:ext cx="304800" cy="304800"/>
          </a:xfrm>
          <a:prstGeom prst="rect">
            <a:avLst/>
          </a:prstGeom>
        </p:spPr>
      </p:pic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123950" y="4038600"/>
            <a:ext cx="304800" cy="304800"/>
          </a:xfrm>
          <a:prstGeom prst="rect">
            <a:avLst/>
          </a:prstGeom>
        </p:spPr>
      </p:pic>
      <p:pic>
        <p:nvPicPr>
          <p:cNvPr id="39" name="Graphic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23950" y="47244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71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0994863-1623-46F0-A2FF-B3A846158C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B6248AE0-9675-421A-9F54-42969E85E0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7168EE-1C4F-4FD6-9CA3-10E3F33079E2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E9ED0-0D78-4CDC-A8BC-B8C5A0F2F03B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51443-920C-4BAF-B643-8425E83BA848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3BCD5-D95A-451B-BA80-CC51DBBD446D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615EF-CBBB-4535-89B6-E5220D854988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E225B5-6E6A-4674-A66A-3E50EC16EA61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7D58C3-D6D5-46C9-A300-41B8E8B3F70B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F1EC49-56C9-4EB5-8C39-39F6C384FA2F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B0B7C6-0544-4ABB-838A-EF5840D9B935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0B5167-458E-4326-BCA6-5677C88CEE46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283961-366D-43EF-A65A-F28110FA38F3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5CF324D-EF7E-4742-AC87-3731FA9F89D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E0060C-1D57-42FC-A0E0-E09962A337E9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9F240A9F-CB3B-4AD8-B737-A20C2FD1EB5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1</a:t>
            </a:r>
            <a:r>
              <a:rPr lang="en-IN"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1</a:t>
            </a:r>
            <a:endParaRPr sz="825" b="1" dirty="0">
              <a:solidFill>
                <a:srgbClr val="22D3E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605E5-B597-4977-A05D-029BA8BCF406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F02CB121-2601-4424-9B00-107036EB0261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3243F5-CB30-4E6E-AFAC-57640961C2AC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mini project can evolve into a complete academic management tool.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38832F-0013-40CA-8EE9-4C3FA6460D79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Future additions can move it from linked-list demo to practical record-management software.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CE32A3-EE2B-49F7-807C-1232BFEFD2D4}"/>
              </a:ext>
            </a:extLst>
          </p:cNvPr>
          <p:cNvSpPr>
            <a:spLocks noGrp="1"/>
          </p:cNvSpPr>
          <p:nvPr/>
        </p:nvSpPr>
        <p:spPr>
          <a:xfrm>
            <a:off x="971550" y="2781300"/>
            <a:ext cx="1428750" cy="1657350"/>
          </a:xfrm>
          <a:prstGeom prst="rect">
            <a:avLst/>
          </a:prstGeom>
          <a:solidFill>
            <a:srgbClr val="07111F"/>
          </a:solidFill>
          <a:ln w="11430">
            <a:solidFill>
              <a:srgbClr val="164E6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E3FAD3-D7F6-446A-93D5-B75CC117F6BF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428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7FCCEF-94FB-46D0-ADC5-C4C28D56E227}"/>
              </a:ext>
            </a:extLst>
          </p:cNvPr>
          <p:cNvSpPr>
            <a:spLocks noGrp="1"/>
          </p:cNvSpPr>
          <p:nvPr/>
        </p:nvSpPr>
        <p:spPr>
          <a:xfrm>
            <a:off x="1143000" y="344805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File Handling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D8702-4AF0-4538-9220-C7BBCD5051C0}"/>
              </a:ext>
            </a:extLst>
          </p:cNvPr>
          <p:cNvSpPr>
            <a:spLocks noGrp="1"/>
          </p:cNvSpPr>
          <p:nvPr/>
        </p:nvSpPr>
        <p:spPr>
          <a:xfrm>
            <a:off x="1143000" y="39433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Store records permanently.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64BC1E-ECB2-4009-A28D-A17478434D80}"/>
              </a:ext>
            </a:extLst>
          </p:cNvPr>
          <p:cNvSpPr>
            <a:spLocks noGrp="1"/>
          </p:cNvSpPr>
          <p:nvPr/>
        </p:nvSpPr>
        <p:spPr>
          <a:xfrm>
            <a:off x="2466975" y="3600450"/>
            <a:ext cx="457200" cy="190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4BDFB3-7C08-4E49-8749-A040ECB15BD0}"/>
              </a:ext>
            </a:extLst>
          </p:cNvPr>
          <p:cNvSpPr>
            <a:spLocks noGrp="1"/>
          </p:cNvSpPr>
          <p:nvPr/>
        </p:nvSpPr>
        <p:spPr>
          <a:xfrm>
            <a:off x="2952750" y="2781300"/>
            <a:ext cx="1428750" cy="1657350"/>
          </a:xfrm>
          <a:prstGeom prst="rect">
            <a:avLst/>
          </a:prstGeom>
          <a:solidFill>
            <a:srgbClr val="07111F"/>
          </a:solidFill>
          <a:ln w="11430">
            <a:solidFill>
              <a:srgbClr val="164E63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357251-CCE7-45B5-9644-3AA1AE5BA157}"/>
              </a:ext>
            </a:extLst>
          </p:cNvPr>
          <p:cNvSpPr>
            <a:spLocks noGrp="1"/>
          </p:cNvSpPr>
          <p:nvPr/>
        </p:nvSpPr>
        <p:spPr>
          <a:xfrm>
            <a:off x="3124200" y="2990850"/>
            <a:ext cx="428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9EAE30-72E1-40C8-872E-F5EFD3993A8E}"/>
              </a:ext>
            </a:extLst>
          </p:cNvPr>
          <p:cNvSpPr>
            <a:spLocks noGrp="1"/>
          </p:cNvSpPr>
          <p:nvPr/>
        </p:nvSpPr>
        <p:spPr>
          <a:xfrm>
            <a:off x="3124200" y="344805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Database Support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64F0CF-CB33-4DBF-92CA-00B296224254}"/>
              </a:ext>
            </a:extLst>
          </p:cNvPr>
          <p:cNvSpPr>
            <a:spLocks noGrp="1"/>
          </p:cNvSpPr>
          <p:nvPr/>
        </p:nvSpPr>
        <p:spPr>
          <a:xfrm>
            <a:off x="3124200" y="39433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Manage large datasets.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1821CC-B04D-49AC-A6FF-91B748EF7D03}"/>
              </a:ext>
            </a:extLst>
          </p:cNvPr>
          <p:cNvSpPr>
            <a:spLocks noGrp="1"/>
          </p:cNvSpPr>
          <p:nvPr/>
        </p:nvSpPr>
        <p:spPr>
          <a:xfrm>
            <a:off x="4448175" y="3600450"/>
            <a:ext cx="457200" cy="190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5927DD-CC9D-417A-928B-06D9FE539DFA}"/>
              </a:ext>
            </a:extLst>
          </p:cNvPr>
          <p:cNvSpPr>
            <a:spLocks noGrp="1"/>
          </p:cNvSpPr>
          <p:nvPr/>
        </p:nvSpPr>
        <p:spPr>
          <a:xfrm>
            <a:off x="4933950" y="2781300"/>
            <a:ext cx="1428750" cy="1657350"/>
          </a:xfrm>
          <a:prstGeom prst="rect">
            <a:avLst/>
          </a:prstGeom>
          <a:solidFill>
            <a:srgbClr val="07111F"/>
          </a:solidFill>
          <a:ln w="11430">
            <a:solidFill>
              <a:srgbClr val="164E63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F08D56-F38C-4686-A232-03A358E92230}"/>
              </a:ext>
            </a:extLst>
          </p:cNvPr>
          <p:cNvSpPr>
            <a:spLocks noGrp="1"/>
          </p:cNvSpPr>
          <p:nvPr/>
        </p:nvSpPr>
        <p:spPr>
          <a:xfrm>
            <a:off x="5105400" y="2990850"/>
            <a:ext cx="428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F15651-A211-41A8-B302-D5A268E38A2A}"/>
              </a:ext>
            </a:extLst>
          </p:cNvPr>
          <p:cNvSpPr>
            <a:spLocks noGrp="1"/>
          </p:cNvSpPr>
          <p:nvPr/>
        </p:nvSpPr>
        <p:spPr>
          <a:xfrm>
            <a:off x="5105400" y="344805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GUI Version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4DB76F-91E9-4453-91C8-3A8FCCB43831}"/>
              </a:ext>
            </a:extLst>
          </p:cNvPr>
          <p:cNvSpPr>
            <a:spLocks noGrp="1"/>
          </p:cNvSpPr>
          <p:nvPr/>
        </p:nvSpPr>
        <p:spPr>
          <a:xfrm>
            <a:off x="5105400" y="39433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Improve user interaction.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50630D-27AF-4F5B-AA7D-1D332C87B332}"/>
              </a:ext>
            </a:extLst>
          </p:cNvPr>
          <p:cNvSpPr>
            <a:spLocks noGrp="1"/>
          </p:cNvSpPr>
          <p:nvPr/>
        </p:nvSpPr>
        <p:spPr>
          <a:xfrm>
            <a:off x="6429375" y="3600450"/>
            <a:ext cx="457200" cy="190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23094-7E9B-4585-A934-143E6545E8BB}"/>
              </a:ext>
            </a:extLst>
          </p:cNvPr>
          <p:cNvSpPr>
            <a:spLocks noGrp="1"/>
          </p:cNvSpPr>
          <p:nvPr/>
        </p:nvSpPr>
        <p:spPr>
          <a:xfrm>
            <a:off x="6915150" y="2781300"/>
            <a:ext cx="1428750" cy="1657350"/>
          </a:xfrm>
          <a:prstGeom prst="rect">
            <a:avLst/>
          </a:prstGeom>
          <a:solidFill>
            <a:srgbClr val="07111F"/>
          </a:solidFill>
          <a:ln w="11430">
            <a:solidFill>
              <a:srgbClr val="164E63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3E3250-7EDE-4E45-BACC-9828221FE897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428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8312C9-3D24-4C21-A0AD-49130887E33C}"/>
              </a:ext>
            </a:extLst>
          </p:cNvPr>
          <p:cNvSpPr>
            <a:spLocks noGrp="1"/>
          </p:cNvSpPr>
          <p:nvPr/>
        </p:nvSpPr>
        <p:spPr>
          <a:xfrm>
            <a:off x="7086600" y="344805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D46304-716E-45E2-905B-040F7D7C2DA1}"/>
              </a:ext>
            </a:extLst>
          </p:cNvPr>
          <p:cNvSpPr>
            <a:spLocks noGrp="1"/>
          </p:cNvSpPr>
          <p:nvPr/>
        </p:nvSpPr>
        <p:spPr>
          <a:xfrm>
            <a:off x="7086600" y="39433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Track student presence.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4732CB-8E0B-4E37-B028-A6671A7540CE}"/>
              </a:ext>
            </a:extLst>
          </p:cNvPr>
          <p:cNvSpPr>
            <a:spLocks noGrp="1"/>
          </p:cNvSpPr>
          <p:nvPr/>
        </p:nvSpPr>
        <p:spPr>
          <a:xfrm>
            <a:off x="8410575" y="3600450"/>
            <a:ext cx="457200" cy="190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7FAE19-880B-491C-A62B-B65692B57D46}"/>
              </a:ext>
            </a:extLst>
          </p:cNvPr>
          <p:cNvSpPr>
            <a:spLocks noGrp="1"/>
          </p:cNvSpPr>
          <p:nvPr/>
        </p:nvSpPr>
        <p:spPr>
          <a:xfrm>
            <a:off x="8896350" y="2781300"/>
            <a:ext cx="1428750" cy="1657350"/>
          </a:xfrm>
          <a:prstGeom prst="rect">
            <a:avLst/>
          </a:prstGeom>
          <a:solidFill>
            <a:srgbClr val="0C1B2B"/>
          </a:solidFill>
          <a:ln w="11430">
            <a:solidFill>
              <a:srgbClr val="FACC15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4B866C-A9EE-4A68-9305-B4811219ACD3}"/>
              </a:ext>
            </a:extLst>
          </p:cNvPr>
          <p:cNvSpPr>
            <a:spLocks noGrp="1"/>
          </p:cNvSpPr>
          <p:nvPr/>
        </p:nvSpPr>
        <p:spPr>
          <a:xfrm>
            <a:off x="9067800" y="2990850"/>
            <a:ext cx="428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EAE9D7-F168-4D6A-8848-236255BE13B3}"/>
              </a:ext>
            </a:extLst>
          </p:cNvPr>
          <p:cNvSpPr>
            <a:spLocks noGrp="1"/>
          </p:cNvSpPr>
          <p:nvPr/>
        </p:nvSpPr>
        <p:spPr>
          <a:xfrm>
            <a:off x="9067800" y="344805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B05982-C0D2-402D-95DF-17DC96EEAAF7}"/>
              </a:ext>
            </a:extLst>
          </p:cNvPr>
          <p:cNvSpPr>
            <a:spLocks noGrp="1"/>
          </p:cNvSpPr>
          <p:nvPr/>
        </p:nvSpPr>
        <p:spPr>
          <a:xfrm>
            <a:off x="9067800" y="394335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Generate performance reports.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233630-5A65-4E6A-A1CF-2508F7CF637C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D4664F-FFAC-4805-B28F-E2AF7F437917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75F209-537B-4B80-A0F7-B5E3651CB754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4730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C9D604D-4C4B-4FFF-A750-0235C1E718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theme-background">
            <a:extLst>
              <a:ext uri="{FF2B5EF4-FFF2-40B4-BE49-F238E27FC236}">
                <a16:creationId xmlns:a16="http://schemas.microsoft.com/office/drawing/2014/main" id="{5A1DA052-D4BF-4793-99EB-3680F6D640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20CE7-1722-46F2-98E8-CFF9ACF84440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5842A-CE8B-4E1D-8008-5621C480F505}"/>
              </a:ext>
            </a:extLst>
          </p:cNvPr>
          <p:cNvSpPr>
            <a:spLocks noGrp="1"/>
          </p:cNvSpPr>
          <p:nvPr/>
        </p:nvSpPr>
        <p:spPr>
          <a:xfrm>
            <a:off x="15430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414635-2012-42ED-970D-A29BEA42590C}"/>
              </a:ext>
            </a:extLst>
          </p:cNvPr>
          <p:cNvSpPr>
            <a:spLocks noGrp="1"/>
          </p:cNvSpPr>
          <p:nvPr/>
        </p:nvSpPr>
        <p:spPr>
          <a:xfrm>
            <a:off x="27622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58329-8B54-434E-9155-EA30865520D3}"/>
              </a:ext>
            </a:extLst>
          </p:cNvPr>
          <p:cNvSpPr>
            <a:spLocks noGrp="1"/>
          </p:cNvSpPr>
          <p:nvPr/>
        </p:nvSpPr>
        <p:spPr>
          <a:xfrm>
            <a:off x="39814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13F356-C6B0-46CE-A529-E4C64F37F83E}"/>
              </a:ext>
            </a:extLst>
          </p:cNvPr>
          <p:cNvSpPr>
            <a:spLocks noGrp="1"/>
          </p:cNvSpPr>
          <p:nvPr/>
        </p:nvSpPr>
        <p:spPr>
          <a:xfrm>
            <a:off x="52006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A791FD-8F80-4CA0-85DF-22610BD4E707}"/>
              </a:ext>
            </a:extLst>
          </p:cNvPr>
          <p:cNvSpPr>
            <a:spLocks noGrp="1"/>
          </p:cNvSpPr>
          <p:nvPr/>
        </p:nvSpPr>
        <p:spPr>
          <a:xfrm>
            <a:off x="64198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242C87-BC62-44AF-BC20-A5C2CE557693}"/>
              </a:ext>
            </a:extLst>
          </p:cNvPr>
          <p:cNvSpPr>
            <a:spLocks noGrp="1"/>
          </p:cNvSpPr>
          <p:nvPr/>
        </p:nvSpPr>
        <p:spPr>
          <a:xfrm>
            <a:off x="76390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A1AEB-960D-40B3-B78F-0CC918EC8537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102806-37F5-4A45-A39F-3EE6716E7EC3}"/>
              </a:ext>
            </a:extLst>
          </p:cNvPr>
          <p:cNvSpPr>
            <a:spLocks noGrp="1"/>
          </p:cNvSpPr>
          <p:nvPr/>
        </p:nvSpPr>
        <p:spPr>
          <a:xfrm>
            <a:off x="10077450" y="0"/>
            <a:ext cx="9525" cy="6858000"/>
          </a:xfrm>
          <a:prstGeom prst="rect">
            <a:avLst/>
          </a:prstGeom>
          <a:solidFill>
            <a:srgbClr val="0911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2D46E-369F-49E8-B0CE-ACF05A075840}"/>
              </a:ext>
            </a:extLst>
          </p:cNvPr>
          <p:cNvSpPr>
            <a:spLocks noGrp="1"/>
          </p:cNvSpPr>
          <p:nvPr/>
        </p:nvSpPr>
        <p:spPr>
          <a:xfrm>
            <a:off x="11296650" y="0"/>
            <a:ext cx="9525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34466A-CAB5-45C9-96CF-B80A1B3BB4F5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476500" cy="2476500"/>
          </a:xfrm>
          <a:prstGeom prst="ellipse">
            <a:avLst/>
          </a:prstGeom>
          <a:solidFill>
            <a:srgbClr val="0E7490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BE712C-157F-4A43-A5D9-7DD7284B99F1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524000" cy="1524000"/>
          </a:xfrm>
          <a:prstGeom prst="ellipse">
            <a:avLst/>
          </a:prstGeom>
          <a:solidFill>
            <a:srgbClr val="1D4ED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5F2E5-1F8C-40A3-938C-F25B0F6F3768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361950" cy="361950"/>
          </a:xfrm>
          <a:prstGeom prst="rect">
            <a:avLst/>
          </a:prstGeom>
          <a:solidFill>
            <a:srgbClr val="07111F"/>
          </a:solidFill>
          <a:ln w="14288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kicker-marker">
            <a:extLst>
              <a:ext uri="{FF2B5EF4-FFF2-40B4-BE49-F238E27FC236}">
                <a16:creationId xmlns:a16="http://schemas.microsoft.com/office/drawing/2014/main" id="{2DB258E0-6FA5-4056-B9E4-F513903FF6D8}"/>
              </a:ext>
            </a:extLst>
          </p:cNvPr>
          <p:cNvSpPr>
            <a:spLocks noGrp="1"/>
          </p:cNvSpPr>
          <p:nvPr/>
        </p:nvSpPr>
        <p:spPr>
          <a:xfrm>
            <a:off x="562282" y="552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1</a:t>
            </a:r>
            <a:r>
              <a:rPr lang="en-IN" sz="825" b="1" dirty="0">
                <a:solidFill>
                  <a:srgbClr val="22D3EE"/>
                </a:solidFill>
                <a:latin typeface="Aptos"/>
                <a:ea typeface="Aptos"/>
                <a:cs typeface="Aptos"/>
              </a:rPr>
              <a:t>2</a:t>
            </a:r>
            <a:endParaRPr sz="825" b="1" dirty="0">
              <a:solidFill>
                <a:srgbClr val="22D3E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912C3B-7C41-4358-A4BA-58FC369041D1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7810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>
              <a:ext uri="{FF2B5EF4-FFF2-40B4-BE49-F238E27FC236}">
                <a16:creationId xmlns:a16="http://schemas.microsoft.com/office/drawing/2014/main" id="{18F8F33C-D1CF-4B0F-8E33-0967922212C2}"/>
              </a:ext>
            </a:extLst>
          </p:cNvPr>
          <p:cNvSpPr>
            <a:spLocks noGrp="1"/>
          </p:cNvSpPr>
          <p:nvPr/>
        </p:nvSpPr>
        <p:spPr>
          <a:xfrm>
            <a:off x="1943100" y="5429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82BEF5-A363-457C-A343-FCB25B01DC94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project successfully demonstrates dynamic record management using linked lists.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54B3E6-D596-451C-9D24-6E51A62D931C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It applies structures, pointers, dynamic memory allocation, traversal, and CRUD operations in one complete C program.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9750CF-AA2F-43DE-B41B-76097E3DCC21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9677400" cy="1809750"/>
          </a:xfrm>
          <a:prstGeom prst="rect">
            <a:avLst/>
          </a:prstGeom>
          <a:solidFill>
            <a:srgbClr val="07111F"/>
          </a:solidFill>
          <a:ln w="12383">
            <a:solidFill>
              <a:srgbClr val="22D3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E5FFB6-C305-412A-9813-E3F215E91647}"/>
              </a:ext>
            </a:extLst>
          </p:cNvPr>
          <p:cNvSpPr>
            <a:spLocks noGrp="1"/>
          </p:cNvSpPr>
          <p:nvPr/>
        </p:nvSpPr>
        <p:spPr>
          <a:xfrm>
            <a:off x="1657350" y="2895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F58CF9-39F9-4B13-BBE8-942B86542072}"/>
              </a:ext>
            </a:extLst>
          </p:cNvPr>
          <p:cNvSpPr>
            <a:spLocks noGrp="1"/>
          </p:cNvSpPr>
          <p:nvPr/>
        </p:nvSpPr>
        <p:spPr>
          <a:xfrm>
            <a:off x="1657350" y="33337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Linked lists are useful when records need to grow, shrink, and change during runtime. This project shows how a theoretical data structure can become a real student-management workflow.</a:t>
            </a:r>
          </a:p>
        </p:txBody>
      </p:sp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638800" y="4800600"/>
            <a:ext cx="438150" cy="4381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D6DC365-FABF-4A3C-8EE5-B418D42B940F}"/>
              </a:ext>
            </a:extLst>
          </p:cNvPr>
          <p:cNvSpPr>
            <a:spLocks noGrp="1"/>
          </p:cNvSpPr>
          <p:nvPr/>
        </p:nvSpPr>
        <p:spPr>
          <a:xfrm>
            <a:off x="0" y="5353050"/>
            <a:ext cx="1219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38BEEF-D9F8-4066-8F0C-91BBD909F797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428750" cy="95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62B38C-8DB5-4B82-9528-DBC7556D2AE5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504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Student Management System using Linked List in 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70F3B8-4A74-43F8-A611-9BDCF4E3BA2C}"/>
              </a:ext>
            </a:extLst>
          </p:cNvPr>
          <p:cNvSpPr>
            <a:spLocks noGrp="1"/>
          </p:cNvSpPr>
          <p:nvPr/>
        </p:nvSpPr>
        <p:spPr>
          <a:xfrm>
            <a:off x="1118235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30528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1102</Words>
  <Application>Microsoft Office PowerPoint</Application>
  <DocSecurity>0</DocSecurity>
  <PresentationFormat>Widescreen</PresentationFormat>
  <Paragraphs>212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Hitesh Kukreja</cp:lastModifiedBy>
  <cp:revision>1</cp:revision>
  <dcterms:created xsi:type="dcterms:W3CDTF">2026-05-24T12:38:03Z</dcterms:created>
  <dcterms:modified xsi:type="dcterms:W3CDTF">2026-05-24T12:46:20Z</dcterms:modified>
</cp:coreProperties>
</file>